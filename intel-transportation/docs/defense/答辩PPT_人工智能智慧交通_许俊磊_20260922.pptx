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AB7FBA-EF84-4ADC-AE84-F481FEC256CC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B3438-539C-492C-93BE-992E8A586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61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【20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各位老师好，我是许俊磊。我做的是智慧交通的端到端系统，一句话概括就是屏幕上这条链：摄像头取帧，识别出车辆和车牌变成结构化事件，经 </a:t>
            </a:r>
            <a:r>
              <a:rPr lang="en-US" altLang="zh-CN" sz="1100">
                <a:latin typeface="微软雅黑" panose="020B0503020204020204" pitchFamily="34" charset="-122"/>
              </a:rPr>
              <a:t>Kafka </a:t>
            </a:r>
            <a:r>
              <a:rPr lang="zh-CN" altLang="en-US" sz="1100">
                <a:latin typeface="微软雅黑" panose="020B0503020204020204" pitchFamily="34" charset="-122"/>
              </a:rPr>
              <a:t>进时序库，</a:t>
            </a:r>
            <a:r>
              <a:rPr lang="en-US" altLang="zh-CN" sz="1100">
                <a:latin typeface="微软雅黑" panose="020B0503020204020204" pitchFamily="34" charset="-122"/>
              </a:rPr>
              <a:t>LSTM </a:t>
            </a:r>
            <a:r>
              <a:rPr lang="zh-CN" altLang="en-US" sz="1100">
                <a:latin typeface="微软雅黑" panose="020B0503020204020204" pitchFamily="34" charset="-122"/>
              </a:rPr>
              <a:t>做预测，多 </a:t>
            </a:r>
            <a:r>
              <a:rPr lang="en-US" altLang="zh-CN" sz="1100">
                <a:latin typeface="微软雅黑" panose="020B0503020204020204" pitchFamily="34" charset="-122"/>
              </a:rPr>
              <a:t>Agent </a:t>
            </a:r>
            <a:r>
              <a:rPr lang="zh-CN" altLang="en-US" sz="1100">
                <a:latin typeface="微软雅黑" panose="020B0503020204020204" pitchFamily="34" charset="-122"/>
              </a:rPr>
              <a:t>出处置方案，最后回到大屏。我讲的每个数字都能指出它来自哪个文件或哪条命令。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598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【20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正文十一页按这五块走。后面十页附录是演示细节和复现环境，老师问到哪页我翻哪页。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363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【60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先对课件。七个方向里五个是完整实现的，两处是有条件没满足：</a:t>
            </a:r>
            <a:r>
              <a:rPr lang="en-US" altLang="zh-CN" sz="1100">
                <a:latin typeface="微软雅黑" panose="020B0503020204020204" pitchFamily="34" charset="-122"/>
              </a:rPr>
              <a:t>CrewAI </a:t>
            </a:r>
            <a:r>
              <a:rPr lang="zh-CN" altLang="en-US" sz="1100">
                <a:latin typeface="微软雅黑" panose="020B0503020204020204" pitchFamily="34" charset="-122"/>
              </a:rPr>
              <a:t>真跑通了但 </a:t>
            </a:r>
            <a:r>
              <a:rPr lang="en-US" altLang="zh-CN" sz="1100">
                <a:latin typeface="微软雅黑" panose="020B0503020204020204" pitchFamily="34" charset="-122"/>
              </a:rPr>
              <a:t>LangChain </a:t>
            </a:r>
            <a:r>
              <a:rPr lang="zh-CN" altLang="en-US" sz="1100">
                <a:latin typeface="微软雅黑" panose="020B0503020204020204" pitchFamily="34" charset="-122"/>
              </a:rPr>
              <a:t>那条链路缺依赖，</a:t>
            </a:r>
            <a:r>
              <a:rPr lang="en-US" altLang="zh-CN" sz="1100">
                <a:latin typeface="微软雅黑" panose="020B0503020204020204" pitchFamily="34" charset="-122"/>
              </a:rPr>
              <a:t>Qwen-VL </a:t>
            </a:r>
            <a:r>
              <a:rPr lang="zh-CN" altLang="en-US" sz="1100">
                <a:latin typeface="微软雅黑" panose="020B0503020204020204" pitchFamily="34" charset="-122"/>
              </a:rPr>
              <a:t>因为账号欠费没跑成。这两处我没拿别的东西顶替，状态列写得很直白。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782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【90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这页是骨架，按颜色看：上面三段是数据进来和存下来，下面三段是算出去和显示出来，中间所有跳转共用同一份事件契约。最想说的是右下这句橙色的话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任何一段缺依赖或缺密钥，它不抛异常，而是返回 </a:t>
            </a:r>
            <a:r>
              <a:rPr lang="en-US" altLang="zh-CN" sz="1100">
                <a:latin typeface="微软雅黑" panose="020B0503020204020204" pitchFamily="34" charset="-122"/>
              </a:rPr>
              <a:t>degraded </a:t>
            </a:r>
            <a:r>
              <a:rPr lang="zh-CN" altLang="en-US" sz="1100">
                <a:latin typeface="微软雅黑" panose="020B0503020204020204" pitchFamily="34" charset="-122"/>
              </a:rPr>
              <a:t>并把 </a:t>
            </a:r>
            <a:r>
              <a:rPr lang="en-US" altLang="zh-CN" sz="1100">
                <a:latin typeface="微软雅黑" panose="020B0503020204020204" pitchFamily="34" charset="-122"/>
              </a:rPr>
              <a:t>simulation=true</a:t>
            </a:r>
            <a:r>
              <a:rPr lang="zh-CN" altLang="en-US" sz="1100">
                <a:latin typeface="微软雅黑" panose="020B0503020204020204" pitchFamily="34" charset="-122"/>
              </a:rPr>
              <a:t>、</a:t>
            </a:r>
            <a:r>
              <a:rPr lang="en-US" altLang="zh-CN" sz="1100">
                <a:latin typeface="微软雅黑" panose="020B0503020204020204" pitchFamily="34" charset="-122"/>
              </a:rPr>
              <a:t>verified=false</a:t>
            </a:r>
            <a:r>
              <a:rPr lang="zh-CN" altLang="en-US" sz="1100">
                <a:latin typeface="微软雅黑" panose="020B0503020204020204" pitchFamily="34" charset="-122"/>
              </a:rPr>
              <a:t>、</a:t>
            </a:r>
            <a:r>
              <a:rPr lang="en-US" altLang="zh-CN" sz="1100">
                <a:latin typeface="微软雅黑" panose="020B0503020204020204" pitchFamily="34" charset="-122"/>
              </a:rPr>
              <a:t>source </a:t>
            </a:r>
            <a:r>
              <a:rPr lang="zh-CN" altLang="en-US" sz="1100">
                <a:latin typeface="微软雅黑" panose="020B0503020204020204" pitchFamily="34" charset="-122"/>
              </a:rPr>
              <a:t>一路透传到大屏。所以后面所有好看的数据，都能当场证明来路。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697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【40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交付形态是代码、部署、文档三类。三个数字请老师记一下：</a:t>
            </a:r>
            <a:r>
              <a:rPr lang="en-US" altLang="zh-CN" sz="1100">
                <a:latin typeface="微软雅黑" panose="020B0503020204020204" pitchFamily="34" charset="-122"/>
              </a:rPr>
              <a:t>181 </a:t>
            </a:r>
            <a:r>
              <a:rPr lang="zh-CN" altLang="en-US" sz="1100">
                <a:latin typeface="微软雅黑" panose="020B0503020204020204" pitchFamily="34" charset="-122"/>
              </a:rPr>
              <a:t>个 </a:t>
            </a:r>
            <a:r>
              <a:rPr lang="en-US" altLang="zh-CN" sz="1100">
                <a:latin typeface="微软雅黑" panose="020B0503020204020204" pitchFamily="34" charset="-122"/>
              </a:rPr>
              <a:t>Python </a:t>
            </a:r>
            <a:r>
              <a:rPr lang="zh-CN" altLang="en-US" sz="1100">
                <a:latin typeface="微软雅黑" panose="020B0503020204020204" pitchFamily="34" charset="-122"/>
              </a:rPr>
              <a:t>文件零语法错误、</a:t>
            </a:r>
            <a:r>
              <a:rPr lang="en-US" altLang="zh-CN" sz="1100">
                <a:latin typeface="微软雅黑" panose="020B0503020204020204" pitchFamily="34" charset="-122"/>
              </a:rPr>
              <a:t>303 </a:t>
            </a:r>
            <a:r>
              <a:rPr lang="zh-CN" altLang="en-US" sz="1100">
                <a:latin typeface="微软雅黑" panose="020B0503020204020204" pitchFamily="34" charset="-122"/>
              </a:rPr>
              <a:t>条测试里 </a:t>
            </a:r>
            <a:r>
              <a:rPr lang="en-US" altLang="zh-CN" sz="1100">
                <a:latin typeface="微软雅黑" panose="020B0503020204020204" pitchFamily="34" charset="-122"/>
              </a:rPr>
              <a:t>300 </a:t>
            </a:r>
            <a:r>
              <a:rPr lang="zh-CN" altLang="en-US" sz="1100">
                <a:latin typeface="微软雅黑" panose="020B0503020204020204" pitchFamily="34" charset="-122"/>
              </a:rPr>
              <a:t>条通过、门禁 </a:t>
            </a:r>
            <a:r>
              <a:rPr lang="en-US" altLang="zh-CN" sz="1100">
                <a:latin typeface="微软雅黑" panose="020B0503020204020204" pitchFamily="34" charset="-122"/>
              </a:rPr>
              <a:t>16 </a:t>
            </a:r>
            <a:r>
              <a:rPr lang="zh-CN" altLang="en-US" sz="1100">
                <a:latin typeface="微软雅黑" panose="020B0503020204020204" pitchFamily="34" charset="-122"/>
              </a:rPr>
              <a:t>项检查。那条失败是 </a:t>
            </a:r>
            <a:r>
              <a:rPr lang="en-US" altLang="zh-CN" sz="1100">
                <a:latin typeface="微软雅黑" panose="020B0503020204020204" pitchFamily="34" charset="-122"/>
              </a:rPr>
              <a:t>langchain </a:t>
            </a:r>
            <a:r>
              <a:rPr lang="zh-CN" altLang="en-US" sz="1100">
                <a:latin typeface="微软雅黑" panose="020B0503020204020204" pitchFamily="34" charset="-122"/>
              </a:rPr>
              <a:t>依赖缺失，我故意留着没删，它说明的是环境问题不是断言错了。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007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【90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这页是我最想让老师追问的。第一档现场实跑：预测独立测试集 </a:t>
            </a:r>
            <a:r>
              <a:rPr lang="en-US" altLang="zh-CN" sz="1100">
                <a:latin typeface="微软雅黑" panose="020B0503020204020204" pitchFamily="34" charset="-122"/>
              </a:rPr>
              <a:t>1467 </a:t>
            </a:r>
            <a:r>
              <a:rPr lang="zh-CN" altLang="en-US" sz="1100">
                <a:latin typeface="微软雅黑" panose="020B0503020204020204" pitchFamily="34" charset="-122"/>
              </a:rPr>
              <a:t>个窗口，</a:t>
            </a:r>
            <a:r>
              <a:rPr lang="en-US" altLang="zh-CN" sz="1100">
                <a:latin typeface="微软雅黑" panose="020B0503020204020204" pitchFamily="34" charset="-122"/>
              </a:rPr>
              <a:t>R² 0.864 </a:t>
            </a:r>
            <a:r>
              <a:rPr lang="zh-CN" altLang="en-US" sz="1100">
                <a:latin typeface="微软雅黑" panose="020B0503020204020204" pitchFamily="34" charset="-122"/>
              </a:rPr>
              <a:t>过了 </a:t>
            </a:r>
            <a:r>
              <a:rPr lang="en-US" altLang="zh-CN" sz="1100">
                <a:latin typeface="微软雅黑" panose="020B0503020204020204" pitchFamily="34" charset="-122"/>
              </a:rPr>
              <a:t>0.85 </a:t>
            </a:r>
            <a:r>
              <a:rPr lang="zh-CN" altLang="en-US" sz="1100">
                <a:latin typeface="微软雅黑" panose="020B0503020204020204" pitchFamily="34" charset="-122"/>
              </a:rPr>
              <a:t>的线；同一模型同一数据 </a:t>
            </a:r>
            <a:r>
              <a:rPr lang="en-US" altLang="zh-CN" sz="1100">
                <a:latin typeface="微软雅黑" panose="020B0503020204020204" pitchFamily="34" charset="-122"/>
              </a:rPr>
              <a:t>MAE 9.81</a:t>
            </a:r>
            <a:r>
              <a:rPr lang="zh-CN" altLang="en-US" sz="1100">
                <a:latin typeface="微软雅黑" panose="020B0503020204020204" pitchFamily="34" charset="-122"/>
              </a:rPr>
              <a:t>，课件要求小于 </a:t>
            </a:r>
            <a:r>
              <a:rPr lang="en-US" altLang="zh-CN" sz="1100">
                <a:latin typeface="微软雅黑" panose="020B0503020204020204" pitchFamily="34" charset="-122"/>
              </a:rPr>
              <a:t>5</a:t>
            </a:r>
            <a:r>
              <a:rPr lang="zh-CN" altLang="en-US" sz="1100">
                <a:latin typeface="微软雅黑" panose="020B0503020204020204" pitchFamily="34" charset="-122"/>
              </a:rPr>
              <a:t>，这项我记 </a:t>
            </a:r>
            <a:r>
              <a:rPr lang="en-US" altLang="zh-CN" sz="1100">
                <a:latin typeface="微软雅黑" panose="020B0503020204020204" pitchFamily="34" charset="-122"/>
              </a:rPr>
              <a:t>FAIL</a:t>
            </a:r>
            <a:r>
              <a:rPr lang="zh-CN" altLang="en-US" sz="1100">
                <a:latin typeface="微软雅黑" panose="020B0503020204020204" pitchFamily="34" charset="-122"/>
              </a:rPr>
              <a:t>，没换口径凑数，基线 </a:t>
            </a:r>
            <a:r>
              <a:rPr lang="en-US" altLang="zh-CN" sz="1100">
                <a:latin typeface="微软雅黑" panose="020B0503020204020204" pitchFamily="34" charset="-122"/>
              </a:rPr>
              <a:t>10.53 </a:t>
            </a:r>
            <a:r>
              <a:rPr lang="zh-CN" altLang="en-US" sz="1100">
                <a:latin typeface="微软雅黑" panose="020B0503020204020204" pitchFamily="34" charset="-122"/>
              </a:rPr>
              <a:t>也一起给出来。第二档 </a:t>
            </a:r>
            <a:r>
              <a:rPr lang="en-US" altLang="zh-CN" sz="1100">
                <a:latin typeface="微软雅黑" panose="020B0503020204020204" pitchFamily="34" charset="-122"/>
              </a:rPr>
              <a:t>Flink </a:t>
            </a:r>
            <a:r>
              <a:rPr lang="zh-CN" altLang="en-US" sz="1100">
                <a:latin typeface="微软雅黑" panose="020B0503020204020204" pitchFamily="34" charset="-122"/>
              </a:rPr>
              <a:t>是集群真实落库：</a:t>
            </a:r>
            <a:r>
              <a:rPr lang="en-US" altLang="zh-CN" sz="1100">
                <a:latin typeface="微软雅黑" panose="020B0503020204020204" pitchFamily="34" charset="-122"/>
              </a:rPr>
              <a:t>89 </a:t>
            </a:r>
            <a:r>
              <a:rPr lang="zh-CN" altLang="en-US" sz="1100">
                <a:latin typeface="微软雅黑" panose="020B0503020204020204" pitchFamily="34" charset="-122"/>
              </a:rPr>
              <a:t>条事件产生 </a:t>
            </a:r>
            <a:r>
              <a:rPr lang="en-US" altLang="zh-CN" sz="1100">
                <a:latin typeface="微软雅黑" panose="020B0503020204020204" pitchFamily="34" charset="-122"/>
              </a:rPr>
              <a:t>13 </a:t>
            </a:r>
            <a:r>
              <a:rPr lang="zh-CN" altLang="en-US" sz="1100">
                <a:latin typeface="微软雅黑" panose="020B0503020204020204" pitchFamily="34" charset="-122"/>
              </a:rPr>
              <a:t>行速度统计和 </a:t>
            </a:r>
            <a:r>
              <a:rPr lang="en-US" altLang="zh-CN" sz="1100">
                <a:latin typeface="微软雅黑" panose="020B0503020204020204" pitchFamily="34" charset="-122"/>
              </a:rPr>
              <a:t>38 </a:t>
            </a:r>
            <a:r>
              <a:rPr lang="zh-CN" altLang="en-US" sz="1100">
                <a:latin typeface="微软雅黑" panose="020B0503020204020204" pitchFamily="34" charset="-122"/>
              </a:rPr>
              <a:t>行预警，检查点 </a:t>
            </a:r>
            <a:r>
              <a:rPr lang="en-US" altLang="zh-CN" sz="1100">
                <a:latin typeface="微软雅黑" panose="020B0503020204020204" pitchFamily="34" charset="-122"/>
              </a:rPr>
              <a:t>39 </a:t>
            </a:r>
            <a:r>
              <a:rPr lang="zh-CN" altLang="en-US" sz="1100">
                <a:latin typeface="微软雅黑" panose="020B0503020204020204" pitchFamily="34" charset="-122"/>
              </a:rPr>
              <a:t>次全部完成、语义 </a:t>
            </a:r>
            <a:r>
              <a:rPr lang="en-US" altLang="zh-CN" sz="1100">
                <a:latin typeface="微软雅黑" panose="020B0503020204020204" pitchFamily="34" charset="-122"/>
              </a:rPr>
              <a:t>EXACTLY_ONCE</a:t>
            </a:r>
            <a:r>
              <a:rPr lang="zh-CN" altLang="en-US" sz="1100">
                <a:latin typeface="微软雅黑" panose="020B0503020204020204" pitchFamily="34" charset="-122"/>
              </a:rPr>
              <a:t>。第三档要说清口径：</a:t>
            </a:r>
            <a:r>
              <a:rPr lang="en-US" altLang="zh-CN" sz="1100">
                <a:latin typeface="微软雅黑" panose="020B0503020204020204" pitchFamily="34" charset="-122"/>
              </a:rPr>
              <a:t>14.88 </a:t>
            </a:r>
            <a:r>
              <a:rPr lang="zh-CN" altLang="en-US" sz="1100">
                <a:latin typeface="微软雅黑" panose="020B0503020204020204" pitchFamily="34" charset="-122"/>
              </a:rPr>
              <a:t>毫秒只是模型内核耗时，</a:t>
            </a:r>
            <a:r>
              <a:rPr lang="en-US" altLang="zh-CN" sz="1100">
                <a:latin typeface="微软雅黑" panose="020B0503020204020204" pitchFamily="34" charset="-122"/>
              </a:rPr>
              <a:t>onnxruntime </a:t>
            </a:r>
            <a:r>
              <a:rPr lang="zh-CN" altLang="en-US" sz="1100">
                <a:latin typeface="微软雅黑" panose="020B0503020204020204" pitchFamily="34" charset="-122"/>
              </a:rPr>
              <a:t>在 </a:t>
            </a:r>
            <a:r>
              <a:rPr lang="en-US" altLang="zh-CN" sz="1100">
                <a:latin typeface="微软雅黑" panose="020B0503020204020204" pitchFamily="34" charset="-122"/>
              </a:rPr>
              <a:t>CPU </a:t>
            </a:r>
            <a:r>
              <a:rPr lang="zh-CN" altLang="en-US" sz="1100">
                <a:latin typeface="微软雅黑" panose="020B0503020204020204" pitchFamily="34" charset="-122"/>
              </a:rPr>
              <a:t>上跑的，不是端到端延迟；</a:t>
            </a:r>
            <a:r>
              <a:rPr lang="en-US" altLang="zh-CN" sz="1100">
                <a:latin typeface="微软雅黑" panose="020B0503020204020204" pitchFamily="34" charset="-122"/>
              </a:rPr>
              <a:t>vLLM </a:t>
            </a:r>
            <a:r>
              <a:rPr lang="zh-CN" altLang="en-US" sz="1100">
                <a:latin typeface="微软雅黑" panose="020B0503020204020204" pitchFamily="34" charset="-122"/>
              </a:rPr>
              <a:t>那两个请求只有 </a:t>
            </a:r>
            <a:r>
              <a:rPr lang="en-US" altLang="zh-CN" sz="1100">
                <a:latin typeface="微软雅黑" panose="020B0503020204020204" pitchFamily="34" charset="-122"/>
              </a:rPr>
              <a:t>2 </a:t>
            </a:r>
            <a:r>
              <a:rPr lang="zh-CN" altLang="en-US" sz="1100">
                <a:latin typeface="微软雅黑" panose="020B0503020204020204" pitchFamily="34" charset="-122"/>
              </a:rPr>
              <a:t>个样本，所以我标 </a:t>
            </a:r>
            <a:r>
              <a:rPr lang="en-US" altLang="zh-CN" sz="1100">
                <a:latin typeface="微软雅黑" panose="020B0503020204020204" pitchFamily="34" charset="-122"/>
              </a:rPr>
              <a:t>NOT_VERIFIED</a:t>
            </a:r>
            <a:r>
              <a:rPr lang="zh-CN" altLang="en-US" sz="1100">
                <a:latin typeface="微软雅黑" panose="020B0503020204020204" pitchFamily="34" charset="-122"/>
              </a:rPr>
              <a:t>，不敢写成吞吐结论。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83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【40 </a:t>
            </a:r>
            <a:r>
              <a:rPr lang="zh-CN" altLang="en-US" sz="1100">
                <a:latin typeface="微软雅黑" panose="020B0503020204020204" pitchFamily="34" charset="-122"/>
              </a:rPr>
              <a:t>秒 </a:t>
            </a:r>
            <a:r>
              <a:rPr lang="en-US" altLang="zh-CN" sz="1100">
                <a:latin typeface="微软雅黑" panose="020B0503020204020204" pitchFamily="34" charset="-122"/>
              </a:rPr>
              <a:t>+ </a:t>
            </a:r>
            <a:r>
              <a:rPr lang="zh-CN" altLang="en-US" sz="1100">
                <a:latin typeface="微软雅黑" panose="020B0503020204020204" pitchFamily="34" charset="-122"/>
              </a:rPr>
              <a:t>现场演示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五组演示，起法、看点、被追问时的口径各一行，详细页在附录 </a:t>
            </a:r>
            <a:r>
              <a:rPr lang="en-US" altLang="zh-CN" sz="1100">
                <a:latin typeface="微软雅黑" panose="020B0503020204020204" pitchFamily="34" charset="-122"/>
              </a:rPr>
              <a:t>A1 </a:t>
            </a:r>
            <a:r>
              <a:rPr lang="zh-CN" altLang="en-US" sz="1100">
                <a:latin typeface="微软雅黑" panose="020B0503020204020204" pitchFamily="34" charset="-122"/>
              </a:rPr>
              <a:t>到 </a:t>
            </a:r>
            <a:r>
              <a:rPr lang="en-US" altLang="zh-CN" sz="1100">
                <a:latin typeface="微软雅黑" panose="020B0503020204020204" pitchFamily="34" charset="-122"/>
              </a:rPr>
              <a:t>A5</a:t>
            </a:r>
            <a:r>
              <a:rPr lang="zh-CN" altLang="en-US" sz="1100">
                <a:latin typeface="微软雅黑" panose="020B0503020204020204" pitchFamily="34" charset="-122"/>
              </a:rPr>
              <a:t>。现场条件允许，我现在切到大屏和 </a:t>
            </a:r>
            <a:r>
              <a:rPr lang="en-US" altLang="zh-CN" sz="1100">
                <a:latin typeface="微软雅黑" panose="020B0503020204020204" pitchFamily="34" charset="-122"/>
              </a:rPr>
              <a:t>Flink UI </a:t>
            </a:r>
            <a:r>
              <a:rPr lang="zh-CN" altLang="en-US" sz="1100">
                <a:latin typeface="微软雅黑" panose="020B0503020204020204" pitchFamily="34" charset="-122"/>
              </a:rPr>
              <a:t>各演示一次；如果网络或 </a:t>
            </a:r>
            <a:r>
              <a:rPr lang="en-US" altLang="zh-CN" sz="1100">
                <a:latin typeface="微软雅黑" panose="020B0503020204020204" pitchFamily="34" charset="-122"/>
              </a:rPr>
              <a:t>GPU </a:t>
            </a:r>
            <a:r>
              <a:rPr lang="zh-CN" altLang="en-US" sz="1100">
                <a:latin typeface="微软雅黑" panose="020B0503020204020204" pitchFamily="34" charset="-122"/>
              </a:rPr>
              <a:t>不可用，我就翻附录里的运行截图和日志。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70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【70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这页说明我确实把它跑起来了，举三个。一，本机常驻另一套 </a:t>
            </a:r>
            <a:r>
              <a:rPr lang="en-US" altLang="zh-CN" sz="1100">
                <a:latin typeface="微软雅黑" panose="020B0503020204020204" pitchFamily="34" charset="-122"/>
              </a:rPr>
              <a:t>Postgres </a:t>
            </a:r>
            <a:r>
              <a:rPr lang="zh-CN" altLang="en-US" sz="1100">
                <a:latin typeface="微软雅黑" panose="020B0503020204020204" pitchFamily="34" charset="-122"/>
              </a:rPr>
              <a:t>占着 </a:t>
            </a:r>
            <a:r>
              <a:rPr lang="en-US" altLang="zh-CN" sz="1100">
                <a:latin typeface="微软雅黑" panose="020B0503020204020204" pitchFamily="34" charset="-122"/>
              </a:rPr>
              <a:t>5432</a:t>
            </a:r>
            <a:r>
              <a:rPr lang="zh-CN" altLang="en-US" sz="1100">
                <a:latin typeface="微软雅黑" panose="020B0503020204020204" pitchFamily="34" charset="-122"/>
              </a:rPr>
              <a:t>，</a:t>
            </a:r>
            <a:r>
              <a:rPr lang="en-US" altLang="zh-CN" sz="1100">
                <a:latin typeface="微软雅黑" panose="020B0503020204020204" pitchFamily="34" charset="-122"/>
              </a:rPr>
              <a:t>compose </a:t>
            </a:r>
            <a:r>
              <a:rPr lang="zh-CN" altLang="en-US" sz="1100">
                <a:latin typeface="微软雅黑" panose="020B0503020204020204" pitchFamily="34" charset="-122"/>
              </a:rPr>
              <a:t>重建直接失败，所以我把宿主端口做成变量、默认 </a:t>
            </a:r>
            <a:r>
              <a:rPr lang="en-US" altLang="zh-CN" sz="1100">
                <a:latin typeface="微软雅黑" panose="020B0503020204020204" pitchFamily="34" charset="-122"/>
              </a:rPr>
              <a:t>55432</a:t>
            </a:r>
            <a:r>
              <a:rPr lang="zh-CN" altLang="en-US" sz="1100">
                <a:latin typeface="微软雅黑" panose="020B0503020204020204" pitchFamily="34" charset="-122"/>
              </a:rPr>
              <a:t>，容器内仍是 </a:t>
            </a:r>
            <a:r>
              <a:rPr lang="en-US" altLang="zh-CN" sz="1100">
                <a:latin typeface="微软雅黑" panose="020B0503020204020204" pitchFamily="34" charset="-122"/>
              </a:rPr>
              <a:t>5432</a:t>
            </a:r>
            <a:r>
              <a:rPr lang="zh-CN" altLang="en-US" sz="1100">
                <a:latin typeface="微软雅黑" panose="020B0503020204020204" pitchFamily="34" charset="-122"/>
              </a:rPr>
              <a:t>，</a:t>
            </a:r>
            <a:r>
              <a:rPr lang="en-US" altLang="zh-CN" sz="1100">
                <a:latin typeface="微软雅黑" panose="020B0503020204020204" pitchFamily="34" charset="-122"/>
              </a:rPr>
              <a:t>Flink </a:t>
            </a:r>
            <a:r>
              <a:rPr lang="zh-CN" altLang="en-US" sz="1100">
                <a:latin typeface="微软雅黑" panose="020B0503020204020204" pitchFamily="34" charset="-122"/>
              </a:rPr>
              <a:t>走 </a:t>
            </a:r>
            <a:r>
              <a:rPr lang="en-US" altLang="zh-CN" sz="1100">
                <a:latin typeface="微软雅黑" panose="020B0503020204020204" pitchFamily="34" charset="-122"/>
              </a:rPr>
              <a:t>docker </a:t>
            </a:r>
            <a:r>
              <a:rPr lang="zh-CN" altLang="en-US" sz="1100">
                <a:latin typeface="微软雅黑" panose="020B0503020204020204" pitchFamily="34" charset="-122"/>
              </a:rPr>
              <a:t>网络不受影响；二，</a:t>
            </a:r>
            <a:r>
              <a:rPr lang="en-US" altLang="zh-CN" sz="1100">
                <a:latin typeface="微软雅黑" panose="020B0503020204020204" pitchFamily="34" charset="-122"/>
              </a:rPr>
              <a:t>Git Bash </a:t>
            </a:r>
            <a:r>
              <a:rPr lang="zh-CN" altLang="en-US" sz="1100">
                <a:latin typeface="微软雅黑" panose="020B0503020204020204" pitchFamily="34" charset="-122"/>
              </a:rPr>
              <a:t>会把 </a:t>
            </a:r>
            <a:r>
              <a:rPr lang="en-US" altLang="zh-CN" sz="1100">
                <a:latin typeface="微软雅黑" panose="020B0503020204020204" pitchFamily="34" charset="-122"/>
              </a:rPr>
              <a:t>/models </a:t>
            </a:r>
            <a:r>
              <a:rPr lang="zh-CN" altLang="en-US" sz="1100">
                <a:latin typeface="微软雅黑" panose="020B0503020204020204" pitchFamily="34" charset="-122"/>
              </a:rPr>
              <a:t>改写成 </a:t>
            </a:r>
            <a:r>
              <a:rPr lang="en-US" altLang="zh-CN" sz="1100">
                <a:latin typeface="微软雅黑" panose="020B0503020204020204" pitchFamily="34" charset="-122"/>
              </a:rPr>
              <a:t>Windows </a:t>
            </a:r>
            <a:r>
              <a:rPr lang="zh-CN" altLang="en-US" sz="1100">
                <a:latin typeface="微软雅黑" panose="020B0503020204020204" pitchFamily="34" charset="-122"/>
              </a:rPr>
              <a:t>路径导致容器挂不上权重，起 </a:t>
            </a:r>
            <a:r>
              <a:rPr lang="en-US" altLang="zh-CN" sz="1100">
                <a:latin typeface="微软雅黑" panose="020B0503020204020204" pitchFamily="34" charset="-122"/>
              </a:rPr>
              <a:t>vLLM </a:t>
            </a:r>
            <a:r>
              <a:rPr lang="zh-CN" altLang="en-US" sz="1100">
                <a:latin typeface="微软雅黑" panose="020B0503020204020204" pitchFamily="34" charset="-122"/>
              </a:rPr>
              <a:t>必须带 </a:t>
            </a:r>
            <a:r>
              <a:rPr lang="en-US" altLang="zh-CN" sz="1100">
                <a:latin typeface="微软雅黑" panose="020B0503020204020204" pitchFamily="34" charset="-122"/>
              </a:rPr>
              <a:t>MSYS_NO_PATHCONV=1</a:t>
            </a:r>
            <a:r>
              <a:rPr lang="zh-CN" altLang="en-US" sz="1100">
                <a:latin typeface="微软雅黑" panose="020B0503020204020204" pitchFamily="34" charset="-122"/>
              </a:rPr>
              <a:t>；三，最容易骗人的一条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不显式把 </a:t>
            </a:r>
            <a:r>
              <a:rPr lang="en-US" altLang="zh-CN" sz="1100">
                <a:latin typeface="微软雅黑" panose="020B0503020204020204" pitchFamily="34" charset="-122"/>
              </a:rPr>
              <a:t>TRAFFIC_VLLM_API_KEY </a:t>
            </a:r>
            <a:r>
              <a:rPr lang="zh-CN" altLang="en-US" sz="1100">
                <a:latin typeface="微软雅黑" panose="020B0503020204020204" pitchFamily="34" charset="-122"/>
              </a:rPr>
              <a:t>置空，配置会拿云端 </a:t>
            </a:r>
            <a:r>
              <a:rPr lang="en-US" altLang="zh-CN" sz="1100">
                <a:latin typeface="微软雅黑" panose="020B0503020204020204" pitchFamily="34" charset="-122"/>
              </a:rPr>
              <a:t>Key </a:t>
            </a:r>
            <a:r>
              <a:rPr lang="zh-CN" altLang="en-US" sz="1100">
                <a:latin typeface="微软雅黑" panose="020B0503020204020204" pitchFamily="34" charset="-122"/>
              </a:rPr>
              <a:t>把请求发出去，本地推理就成了假象。最后一条关于审计：真实模型跑通那次没留下运行级记录，因为脚本绕开了服务层，我改成只由服务层落一次盘。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391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【60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我不等老师去翻，直接列出来，分三类。第一类缺真值集：车辆 </a:t>
            </a:r>
            <a:r>
              <a:rPr lang="en-US" altLang="zh-CN" sz="1100">
                <a:latin typeface="微软雅黑" panose="020B0503020204020204" pitchFamily="34" charset="-122"/>
              </a:rPr>
              <a:t>mAP </a:t>
            </a:r>
            <a:r>
              <a:rPr lang="zh-CN" altLang="en-US" sz="1100">
                <a:latin typeface="微软雅黑" panose="020B0503020204020204" pitchFamily="34" charset="-122"/>
              </a:rPr>
              <a:t>和整牌准确率，这不是算力问题，是必须人工标注；第二类缺外部条件：</a:t>
            </a:r>
            <a:r>
              <a:rPr lang="en-US" altLang="zh-CN" sz="1100">
                <a:latin typeface="微软雅黑" panose="020B0503020204020204" pitchFamily="34" charset="-122"/>
              </a:rPr>
              <a:t>Qwen-VL </a:t>
            </a:r>
            <a:r>
              <a:rPr lang="zh-CN" altLang="en-US" sz="1100">
                <a:latin typeface="微软雅黑" panose="020B0503020204020204" pitchFamily="34" charset="-122"/>
              </a:rPr>
              <a:t>卡在账号欠费，</a:t>
            </a:r>
            <a:r>
              <a:rPr lang="en-US" altLang="zh-CN" sz="1100">
                <a:latin typeface="微软雅黑" panose="020B0503020204020204" pitchFamily="34" charset="-122"/>
              </a:rPr>
              <a:t>LangChain </a:t>
            </a:r>
            <a:r>
              <a:rPr lang="zh-CN" altLang="en-US" sz="1100">
                <a:latin typeface="微软雅黑" panose="020B0503020204020204" pitchFamily="34" charset="-122"/>
              </a:rPr>
              <a:t>卡在依赖；第三类课件要求但我确实没做：滞后特征、</a:t>
            </a:r>
            <a:r>
              <a:rPr lang="en-US" altLang="zh-CN" sz="1100">
                <a:latin typeface="微软雅黑" panose="020B0503020204020204" pitchFamily="34" charset="-122"/>
              </a:rPr>
              <a:t>SHAP</a:t>
            </a:r>
            <a:r>
              <a:rPr lang="zh-CN" altLang="en-US" sz="1100">
                <a:latin typeface="微软雅黑" panose="020B0503020204020204" pitchFamily="34" charset="-122"/>
              </a:rPr>
              <a:t>、压缩策略、</a:t>
            </a:r>
            <a:r>
              <a:rPr lang="en-US" altLang="zh-CN" sz="1100">
                <a:latin typeface="微软雅黑" panose="020B0503020204020204" pitchFamily="34" charset="-122"/>
              </a:rPr>
              <a:t>allowedLateness</a:t>
            </a:r>
            <a:r>
              <a:rPr lang="zh-CN" altLang="en-US" sz="1100">
                <a:latin typeface="微软雅黑" panose="020B0503020204020204" pitchFamily="34" charset="-122"/>
              </a:rPr>
              <a:t>、</a:t>
            </a:r>
            <a:r>
              <a:rPr lang="en-US" altLang="zh-CN" sz="1100">
                <a:latin typeface="微软雅黑" panose="020B0503020204020204" pitchFamily="34" charset="-122"/>
              </a:rPr>
              <a:t>WebSocket </a:t>
            </a:r>
            <a:r>
              <a:rPr lang="zh-CN" altLang="en-US" sz="1100">
                <a:latin typeface="微软雅黑" panose="020B0503020204020204" pitchFamily="34" charset="-122"/>
              </a:rPr>
              <a:t>推送、车端 </a:t>
            </a:r>
            <a:r>
              <a:rPr lang="en-US" altLang="zh-CN" sz="1100">
                <a:latin typeface="微软雅黑" panose="020B0503020204020204" pitchFamily="34" charset="-122"/>
              </a:rPr>
              <a:t>MQTT</a:t>
            </a:r>
            <a:r>
              <a:rPr lang="zh-CN" altLang="en-US" sz="1100">
                <a:latin typeface="微软雅黑" panose="020B0503020204020204" pitchFamily="34" charset="-122"/>
              </a:rPr>
              <a:t>、</a:t>
            </a:r>
            <a:r>
              <a:rPr lang="en-US" altLang="zh-CN" sz="1100">
                <a:latin typeface="微软雅黑" panose="020B0503020204020204" pitchFamily="34" charset="-122"/>
              </a:rPr>
              <a:t>PDF </a:t>
            </a:r>
            <a:r>
              <a:rPr lang="zh-CN" altLang="en-US" sz="1100">
                <a:latin typeface="微软雅黑" panose="020B0503020204020204" pitchFamily="34" charset="-122"/>
              </a:rPr>
              <a:t>法规入库、拥堵指数、行人检测，一共九项。另外</a:t>
            </a:r>
            <a:r>
              <a:rPr lang="en-US" altLang="zh-CN" sz="1100">
                <a:latin typeface="微软雅黑" panose="020B0503020204020204" pitchFamily="34" charset="-122"/>
              </a:rPr>
              <a:t>《</a:t>
            </a:r>
            <a:r>
              <a:rPr lang="zh-CN" altLang="en-US" sz="1100">
                <a:latin typeface="微软雅黑" panose="020B0503020204020204" pitchFamily="34" charset="-122"/>
              </a:rPr>
              <a:t>系统集成测试报告</a:t>
            </a:r>
            <a:r>
              <a:rPr lang="en-US" altLang="zh-CN" sz="1100">
                <a:latin typeface="微软雅黑" panose="020B0503020204020204" pitchFamily="34" charset="-122"/>
              </a:rPr>
              <a:t>》</a:t>
            </a:r>
            <a:r>
              <a:rPr lang="zh-CN" altLang="en-US" sz="1100">
                <a:latin typeface="微软雅黑" panose="020B0503020204020204" pitchFamily="34" charset="-122"/>
              </a:rPr>
              <a:t>这份提交件还没成文，那是我接下来的第一件事。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301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【40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一句话总结：这条链从摄像头跑到屏幕、再跑回一份处置方案，全程可复现；跑不到的地方我都标了状态，没用示例数字补。如果只给我一件事的时间，我优先补真值集，因为 </a:t>
            </a:r>
            <a:r>
              <a:rPr lang="en-US" altLang="zh-CN" sz="1100">
                <a:latin typeface="微软雅黑" panose="020B0503020204020204" pitchFamily="34" charset="-122"/>
              </a:rPr>
              <a:t>mAP </a:t>
            </a:r>
            <a:r>
              <a:rPr lang="zh-CN" altLang="en-US" sz="1100">
                <a:latin typeface="微软雅黑" panose="020B0503020204020204" pitchFamily="34" charset="-122"/>
              </a:rPr>
              <a:t>和整牌准确率是目前唯一卡在人工、而不是卡在我实现上的项。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014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【10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我的汇报到这里，请老师提问。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603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</a:t>
            </a:r>
            <a:r>
              <a:rPr lang="zh-CN" altLang="en-US" sz="1100">
                <a:latin typeface="微软雅黑" panose="020B0503020204020204" pitchFamily="34" charset="-122"/>
              </a:rPr>
              <a:t>备查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这十页不主动讲，老师问到哪一页翻哪一页。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978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</a:t>
            </a:r>
            <a:r>
              <a:rPr lang="zh-CN" altLang="en-US" sz="1100">
                <a:latin typeface="微软雅黑" panose="020B0503020204020204" pitchFamily="34" charset="-122"/>
              </a:rPr>
              <a:t>现场演示 </a:t>
            </a:r>
            <a:r>
              <a:rPr lang="en-US" altLang="zh-CN" sz="1100">
                <a:latin typeface="微软雅黑" panose="020B0503020204020204" pitchFamily="34" charset="-122"/>
              </a:rPr>
              <a:t>40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大屏五页快速翻一遍，重点指状态栏：它写着数据来自 </a:t>
            </a:r>
            <a:r>
              <a:rPr lang="en-US" altLang="zh-CN" sz="1100">
                <a:latin typeface="微软雅黑" panose="020B0503020204020204" pitchFamily="34" charset="-122"/>
              </a:rPr>
              <a:t>FastAPI </a:t>
            </a:r>
            <a:r>
              <a:rPr lang="zh-CN" altLang="en-US" sz="1100">
                <a:latin typeface="微软雅黑" panose="020B0503020204020204" pitchFamily="34" charset="-122"/>
              </a:rPr>
              <a:t>还是本地 </a:t>
            </a:r>
            <a:r>
              <a:rPr lang="en-US" altLang="zh-CN" sz="1100">
                <a:latin typeface="微软雅黑" panose="020B0503020204020204" pitchFamily="34" charset="-122"/>
              </a:rPr>
              <a:t>CSV</a:t>
            </a:r>
            <a:r>
              <a:rPr lang="zh-CN" altLang="en-US" sz="1100">
                <a:latin typeface="微软雅黑" panose="020B0503020204020204" pitchFamily="34" charset="-122"/>
              </a:rPr>
              <a:t>，不是我口头说的。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666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</a:t>
            </a:r>
            <a:r>
              <a:rPr lang="zh-CN" altLang="en-US" sz="1100">
                <a:latin typeface="微软雅黑" panose="020B0503020204020204" pitchFamily="34" charset="-122"/>
              </a:rPr>
              <a:t>现场演示 </a:t>
            </a:r>
            <a:r>
              <a:rPr lang="en-US" altLang="zh-CN" sz="1100">
                <a:latin typeface="微软雅黑" panose="020B0503020204020204" pitchFamily="34" charset="-122"/>
              </a:rPr>
              <a:t>30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打开一张真实抓拍图，指出检测框、</a:t>
            </a:r>
            <a:r>
              <a:rPr lang="en-US" altLang="zh-CN" sz="1100">
                <a:latin typeface="微软雅黑" panose="020B0503020204020204" pitchFamily="34" charset="-122"/>
              </a:rPr>
              <a:t>OCR </a:t>
            </a:r>
            <a:r>
              <a:rPr lang="zh-CN" altLang="en-US" sz="1100">
                <a:latin typeface="微软雅黑" panose="020B0503020204020204" pitchFamily="34" charset="-122"/>
              </a:rPr>
              <a:t>文本和置信度；老师问准确率就答 </a:t>
            </a:r>
            <a:r>
              <a:rPr lang="en-US" altLang="zh-CN" sz="1100">
                <a:latin typeface="微软雅黑" panose="020B0503020204020204" pitchFamily="34" charset="-122"/>
              </a:rPr>
              <a:t>BLOCKED</a:t>
            </a:r>
            <a:r>
              <a:rPr lang="zh-CN" altLang="en-US" sz="1100">
                <a:latin typeface="微软雅黑" panose="020B0503020204020204" pitchFamily="34" charset="-122"/>
              </a:rPr>
              <a:t>，并说明需要人工真值集。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285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</a:t>
            </a:r>
            <a:r>
              <a:rPr lang="zh-CN" altLang="en-US" sz="1100">
                <a:latin typeface="微软雅黑" panose="020B0503020204020204" pitchFamily="34" charset="-122"/>
              </a:rPr>
              <a:t>现场演示 </a:t>
            </a:r>
            <a:r>
              <a:rPr lang="en-US" altLang="zh-CN" sz="1100">
                <a:latin typeface="微软雅黑" panose="020B0503020204020204" pitchFamily="34" charset="-122"/>
              </a:rPr>
              <a:t>40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】Flink UI </a:t>
            </a:r>
            <a:r>
              <a:rPr lang="zh-CN" altLang="en-US" sz="1100">
                <a:latin typeface="微软雅黑" panose="020B0503020204020204" pitchFamily="34" charset="-122"/>
              </a:rPr>
              <a:t>只看两处：</a:t>
            </a:r>
            <a:r>
              <a:rPr lang="en-US" altLang="zh-CN" sz="1100">
                <a:latin typeface="微软雅黑" panose="020B0503020204020204" pitchFamily="34" charset="-122"/>
              </a:rPr>
              <a:t>Overview </a:t>
            </a:r>
            <a:r>
              <a:rPr lang="zh-CN" altLang="en-US" sz="1100">
                <a:latin typeface="微软雅黑" panose="020B0503020204020204" pitchFamily="34" charset="-122"/>
              </a:rPr>
              <a:t>的 </a:t>
            </a:r>
            <a:r>
              <a:rPr lang="en-US" altLang="zh-CN" sz="1100">
                <a:latin typeface="微软雅黑" panose="020B0503020204020204" pitchFamily="34" charset="-122"/>
              </a:rPr>
              <a:t>2 running jobs</a:t>
            </a:r>
            <a:r>
              <a:rPr lang="zh-CN" altLang="en-US" sz="1100">
                <a:latin typeface="微软雅黑" panose="020B0503020204020204" pitchFamily="34" charset="-122"/>
              </a:rPr>
              <a:t>，和 </a:t>
            </a:r>
            <a:r>
              <a:rPr lang="en-US" altLang="zh-CN" sz="1100">
                <a:latin typeface="微软雅黑" panose="020B0503020204020204" pitchFamily="34" charset="-122"/>
              </a:rPr>
              <a:t>Checkpoints </a:t>
            </a:r>
            <a:r>
              <a:rPr lang="zh-CN" altLang="en-US" sz="1100">
                <a:latin typeface="微软雅黑" panose="020B0503020204020204" pitchFamily="34" charset="-122"/>
              </a:rPr>
              <a:t>的 </a:t>
            </a:r>
            <a:r>
              <a:rPr lang="en-US" altLang="zh-CN" sz="1100">
                <a:latin typeface="微软雅黑" panose="020B0503020204020204" pitchFamily="34" charset="-122"/>
              </a:rPr>
              <a:t>39 </a:t>
            </a:r>
            <a:r>
              <a:rPr lang="zh-CN" altLang="en-US" sz="1100">
                <a:latin typeface="微软雅黑" panose="020B0503020204020204" pitchFamily="34" charset="-122"/>
              </a:rPr>
              <a:t>完成 </a:t>
            </a:r>
            <a:r>
              <a:rPr lang="en-US" altLang="zh-CN" sz="1100">
                <a:latin typeface="微软雅黑" panose="020B0503020204020204" pitchFamily="34" charset="-122"/>
              </a:rPr>
              <a:t>0 </a:t>
            </a:r>
            <a:r>
              <a:rPr lang="zh-CN" altLang="en-US" sz="1100">
                <a:latin typeface="微软雅黑" panose="020B0503020204020204" pitchFamily="34" charset="-122"/>
              </a:rPr>
              <a:t>失败；随后 </a:t>
            </a:r>
            <a:r>
              <a:rPr lang="en-US" altLang="zh-CN" sz="1100">
                <a:latin typeface="微软雅黑" panose="020B0503020204020204" pitchFamily="34" charset="-122"/>
              </a:rPr>
              <a:t>psql </a:t>
            </a:r>
            <a:r>
              <a:rPr lang="zh-CN" altLang="en-US" sz="1100">
                <a:latin typeface="微软雅黑" panose="020B0503020204020204" pitchFamily="34" charset="-122"/>
              </a:rPr>
              <a:t>跑那条分级计数。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0333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</a:t>
            </a:r>
            <a:r>
              <a:rPr lang="zh-CN" altLang="en-US" sz="1100">
                <a:latin typeface="微软雅黑" panose="020B0503020204020204" pitchFamily="34" charset="-122"/>
              </a:rPr>
              <a:t>现场演示 </a:t>
            </a:r>
            <a:r>
              <a:rPr lang="en-US" altLang="zh-CN" sz="1100">
                <a:latin typeface="微软雅黑" panose="020B0503020204020204" pitchFamily="34" charset="-122"/>
              </a:rPr>
              <a:t>30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跑 </a:t>
            </a:r>
            <a:r>
              <a:rPr lang="en-US" altLang="zh-CN" sz="1100">
                <a:latin typeface="微软雅黑" panose="020B0503020204020204" pitchFamily="34" charset="-122"/>
              </a:rPr>
              <a:t>Mock </a:t>
            </a:r>
            <a:r>
              <a:rPr lang="zh-CN" altLang="en-US" sz="1100">
                <a:latin typeface="微软雅黑" panose="020B0503020204020204" pitchFamily="34" charset="-122"/>
              </a:rPr>
              <a:t>那条最稳，日志里三个角色的顺序和工具调用一目了然；真模型的证据用 </a:t>
            </a:r>
            <a:r>
              <a:rPr lang="en-US" altLang="zh-CN" sz="1100">
                <a:latin typeface="微软雅黑" panose="020B0503020204020204" pitchFamily="34" charset="-122"/>
              </a:rPr>
              <a:t>9/21 </a:t>
            </a:r>
            <a:r>
              <a:rPr lang="zh-CN" altLang="en-US" sz="1100">
                <a:latin typeface="微软雅黑" panose="020B0503020204020204" pitchFamily="34" charset="-122"/>
              </a:rPr>
              <a:t>那份 </a:t>
            </a:r>
            <a:r>
              <a:rPr lang="en-US" altLang="zh-CN" sz="1100">
                <a:latin typeface="微软雅黑" panose="020B0503020204020204" pitchFamily="34" charset="-122"/>
              </a:rPr>
              <a:t>jsonl </a:t>
            </a:r>
            <a:r>
              <a:rPr lang="zh-CN" altLang="en-US" sz="1100">
                <a:latin typeface="微软雅黑" panose="020B0503020204020204" pitchFamily="34" charset="-122"/>
              </a:rPr>
              <a:t>与 </a:t>
            </a:r>
            <a:r>
              <a:rPr lang="en-US" altLang="zh-CN" sz="1100">
                <a:latin typeface="微软雅黑" panose="020B0503020204020204" pitchFamily="34" charset="-122"/>
              </a:rPr>
              <a:t>125 </a:t>
            </a:r>
            <a:r>
              <a:rPr lang="zh-CN" altLang="en-US" sz="1100">
                <a:latin typeface="微软雅黑" panose="020B0503020204020204" pitchFamily="34" charset="-122"/>
              </a:rPr>
              <a:t>字通告。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4467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</a:t>
            </a:r>
            <a:r>
              <a:rPr lang="zh-CN" altLang="en-US" sz="1100">
                <a:latin typeface="微软雅黑" panose="020B0503020204020204" pitchFamily="34" charset="-122"/>
              </a:rPr>
              <a:t>现场演示 </a:t>
            </a:r>
            <a:r>
              <a:rPr lang="en-US" altLang="zh-CN" sz="1100">
                <a:latin typeface="微软雅黑" panose="020B0503020204020204" pitchFamily="34" charset="-122"/>
              </a:rPr>
              <a:t>30 </a:t>
            </a:r>
            <a:r>
              <a:rPr lang="zh-CN" altLang="en-US" sz="1100">
                <a:latin typeface="微软雅黑" panose="020B0503020204020204" pitchFamily="34" charset="-122"/>
              </a:rPr>
              <a:t>秒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先 </a:t>
            </a:r>
            <a:r>
              <a:rPr lang="en-US" altLang="zh-CN" sz="1100">
                <a:latin typeface="微软雅黑" panose="020B0503020204020204" pitchFamily="34" charset="-122"/>
              </a:rPr>
              <a:t>/v1/models </a:t>
            </a:r>
            <a:r>
              <a:rPr lang="zh-CN" altLang="en-US" sz="1100">
                <a:latin typeface="微软雅黑" panose="020B0503020204020204" pitchFamily="34" charset="-122"/>
              </a:rPr>
              <a:t>证明是这台机器在推理，再跑五段脚本，让老师看到 </a:t>
            </a:r>
            <a:r>
              <a:rPr lang="en-US" altLang="zh-CN" sz="1100">
                <a:latin typeface="微软雅黑" panose="020B0503020204020204" pitchFamily="34" charset="-122"/>
              </a:rPr>
              <a:t>degraded </a:t>
            </a:r>
            <a:r>
              <a:rPr lang="zh-CN" altLang="en-US" sz="1100">
                <a:latin typeface="微软雅黑" panose="020B0503020204020204" pitchFamily="34" charset="-122"/>
              </a:rPr>
              <a:t>是逐段打印出来的。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9720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</a:t>
            </a:r>
            <a:r>
              <a:rPr lang="zh-CN" altLang="en-US" sz="1100">
                <a:latin typeface="微软雅黑" panose="020B0503020204020204" pitchFamily="34" charset="-122"/>
              </a:rPr>
              <a:t>追问才讲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门禁有三项 </a:t>
            </a:r>
            <a:r>
              <a:rPr lang="en-US" altLang="zh-CN" sz="1100">
                <a:latin typeface="微软雅黑" panose="020B0503020204020204" pitchFamily="34" charset="-122"/>
              </a:rPr>
              <a:t>FAIL</a:t>
            </a:r>
            <a:r>
              <a:rPr lang="zh-CN" altLang="en-US" sz="1100">
                <a:latin typeface="微软雅黑" panose="020B0503020204020204" pitchFamily="34" charset="-122"/>
              </a:rPr>
              <a:t>，我不藏：覆盖率 </a:t>
            </a:r>
            <a:r>
              <a:rPr lang="en-US" altLang="zh-CN" sz="1100">
                <a:latin typeface="微软雅黑" panose="020B0503020204020204" pitchFamily="34" charset="-122"/>
              </a:rPr>
              <a:t>28.78%</a:t>
            </a:r>
            <a:r>
              <a:rPr lang="zh-CN" altLang="en-US" sz="1100">
                <a:latin typeface="微软雅黑" panose="020B0503020204020204" pitchFamily="34" charset="-122"/>
              </a:rPr>
              <a:t>、测试依赖、</a:t>
            </a:r>
            <a:r>
              <a:rPr lang="en-US" altLang="zh-CN" sz="1100">
                <a:latin typeface="微软雅黑" panose="020B0503020204020204" pitchFamily="34" charset="-122"/>
              </a:rPr>
              <a:t>ruff </a:t>
            </a:r>
            <a:r>
              <a:rPr lang="zh-CN" altLang="en-US" sz="1100">
                <a:latin typeface="微软雅黑" panose="020B0503020204020204" pitchFamily="34" charset="-122"/>
              </a:rPr>
              <a:t>未装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都跟用哪个解释器有关。所以我按两个解释器各存一份报告，不挑好看的那份说。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8835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</a:t>
            </a:r>
            <a:r>
              <a:rPr lang="zh-CN" altLang="en-US" sz="1100">
                <a:latin typeface="微软雅黑" panose="020B0503020204020204" pitchFamily="34" charset="-122"/>
              </a:rPr>
              <a:t>备查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六问六答，核心是同一句：能证明的说结论，不能证明的说状态，不把课件示例数字搬进来。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055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</a:t>
            </a:r>
            <a:r>
              <a:rPr lang="zh-CN" altLang="en-US" sz="1100">
                <a:latin typeface="微软雅黑" panose="020B0503020204020204" pitchFamily="34" charset="-122"/>
              </a:rPr>
              <a:t>备查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被问到怎么跑起来时照这页念。两个坑再强调一次：数据库宿主端口是 </a:t>
            </a:r>
            <a:r>
              <a:rPr lang="en-US" altLang="zh-CN" sz="1100">
                <a:latin typeface="微软雅黑" panose="020B0503020204020204" pitchFamily="34" charset="-122"/>
              </a:rPr>
              <a:t>55432 </a:t>
            </a:r>
            <a:r>
              <a:rPr lang="zh-CN" altLang="en-US" sz="1100">
                <a:latin typeface="微软雅黑" panose="020B0503020204020204" pitchFamily="34" charset="-122"/>
              </a:rPr>
              <a:t>不是 </a:t>
            </a:r>
            <a:r>
              <a:rPr lang="en-US" altLang="zh-CN" sz="1100">
                <a:latin typeface="微软雅黑" panose="020B0503020204020204" pitchFamily="34" charset="-122"/>
              </a:rPr>
              <a:t>5432</a:t>
            </a:r>
            <a:r>
              <a:rPr lang="zh-CN" altLang="en-US" sz="1100">
                <a:latin typeface="微软雅黑" panose="020B0503020204020204" pitchFamily="34" charset="-122"/>
              </a:rPr>
              <a:t>；</a:t>
            </a:r>
            <a:r>
              <a:rPr lang="en-US" altLang="zh-CN" sz="1100">
                <a:latin typeface="微软雅黑" panose="020B0503020204020204" pitchFamily="34" charset="-122"/>
              </a:rPr>
              <a:t>8000 </a:t>
            </a:r>
            <a:r>
              <a:rPr lang="zh-CN" altLang="en-US" sz="1100">
                <a:latin typeface="微软雅黑" panose="020B0503020204020204" pitchFamily="34" charset="-122"/>
              </a:rPr>
              <a:t>被占就 </a:t>
            </a:r>
            <a:r>
              <a:rPr lang="en-US" altLang="zh-CN" sz="1100">
                <a:latin typeface="微软雅黑" panose="020B0503020204020204" pitchFamily="34" charset="-122"/>
              </a:rPr>
              <a:t>--port 8010 </a:t>
            </a:r>
            <a:r>
              <a:rPr lang="zh-CN" altLang="en-US" sz="1100">
                <a:latin typeface="微软雅黑" panose="020B0503020204020204" pitchFamily="34" charset="-122"/>
              </a:rPr>
              <a:t>并同步改 </a:t>
            </a:r>
            <a:r>
              <a:rPr lang="en-US" altLang="zh-CN" sz="1100">
                <a:latin typeface="微软雅黑" panose="020B0503020204020204" pitchFamily="34" charset="-122"/>
              </a:rPr>
              <a:t>DASHBOARD_API_URL</a:t>
            </a:r>
            <a:r>
              <a:rPr lang="zh-CN" altLang="en-US" sz="1100"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658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</a:t>
            </a:r>
            <a:r>
              <a:rPr lang="zh-CN" altLang="en-US" sz="1100">
                <a:latin typeface="微软雅黑" panose="020B0503020204020204" pitchFamily="34" charset="-122"/>
              </a:rPr>
              <a:t>备查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这页解决两个最常见的现场事故：解释器用错，以及没置空 </a:t>
            </a:r>
            <a:r>
              <a:rPr lang="en-US" altLang="zh-CN" sz="1100">
                <a:latin typeface="微软雅黑" panose="020B0503020204020204" pitchFamily="34" charset="-122"/>
              </a:rPr>
              <a:t>Key </a:t>
            </a:r>
            <a:r>
              <a:rPr lang="zh-CN" altLang="en-US" sz="1100">
                <a:latin typeface="微软雅黑" panose="020B0503020204020204" pitchFamily="34" charset="-122"/>
              </a:rPr>
              <a:t>导致请求跑到云端。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057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【</a:t>
            </a:r>
            <a:r>
              <a:rPr lang="zh-CN" altLang="en-US" sz="1100">
                <a:latin typeface="微软雅黑" panose="020B0503020204020204" pitchFamily="34" charset="-122"/>
              </a:rPr>
              <a:t>备查</a:t>
            </a:r>
            <a:r>
              <a:rPr lang="en-US" altLang="zh-CN" sz="1100">
                <a:latin typeface="微软雅黑" panose="020B0503020204020204" pitchFamily="34" charset="-122"/>
              </a:rPr>
              <a:t>】</a:t>
            </a:r>
            <a:r>
              <a:rPr lang="zh-CN" altLang="en-US" sz="1100">
                <a:latin typeface="微软雅黑" panose="020B0503020204020204" pitchFamily="34" charset="-122"/>
              </a:rPr>
              <a:t>三样必成的先跑，两样看运气的后跑；本机 </a:t>
            </a:r>
            <a:r>
              <a:rPr lang="en-US" altLang="zh-CN" sz="1100">
                <a:latin typeface="微软雅黑" panose="020B0503020204020204" pitchFamily="34" charset="-122"/>
              </a:rPr>
              <a:t>Docker Desktop </a:t>
            </a:r>
            <a:r>
              <a:rPr lang="zh-CN" altLang="en-US" sz="1100">
                <a:latin typeface="微软雅黑" panose="020B0503020204020204" pitchFamily="34" charset="-122"/>
              </a:rPr>
              <a:t>现在是停的，起不来先检查它。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B3438-539C-492C-93BE-992E8A58695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517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A306D-69B2-1ECB-D11C-B1B62307D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D07417-693F-E467-7BED-3A8252735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3A848D-73ED-E34A-2DAE-D66D1843D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8FA2-54C0-461F-9042-B803C5F878E9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234CAA-C89A-CFDF-D901-86AEF92E9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65C1EE-C179-366B-CFED-E52DA242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507-4647-44D0-BF08-E256FEAFE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40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86FDA-7B26-3E8B-25A3-571C2A562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C1BC08-4B78-DE36-48B4-C070E9E0B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F026C1-FB14-12C2-A118-CC1676109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8FA2-54C0-461F-9042-B803C5F878E9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57BA75-EC69-9763-DD7B-36374595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E7956C-BF4E-B012-7994-8C5165F4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507-4647-44D0-BF08-E256FEAFE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61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6E8F6-B8B5-6BC9-2D50-27A7EFD9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BF6D7D-3663-A1B3-32DD-3B61E75A7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E1F99A-7840-2A8F-6D12-D5BA5DB0B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8FA2-54C0-461F-9042-B803C5F878E9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3F8551-1C53-8AAB-7092-E85115FE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7815B1-6142-2906-FB11-AB75F834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507-4647-44D0-BF08-E256FEAFE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67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8B1D5-0B5E-3028-2FFA-7C2EA3CDC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767D15-EB30-C67E-CA33-D02245C2B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8C6382-38D5-416F-9F45-D72244121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FC9688-A882-9C15-B97C-7E366B6AC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8FA2-54C0-461F-9042-B803C5F878E9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44BA53-84C6-87B8-CAB8-D3F06AE4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BA1BBE-C297-FE7C-62B2-314DB4178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507-4647-44D0-BF08-E256FEAFE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10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4B63E-63E9-32C3-676A-68B87563B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3F94F7-22AA-2872-9F72-E26518103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32D810-E976-2EE3-17EE-93AD24114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C69EF6-5B83-F1E7-9211-BF40F3DBE1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EE6C6B-287F-320F-D269-EFF52C033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D2FE35-2FDD-E819-9275-EB7D23BA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8FA2-54C0-461F-9042-B803C5F878E9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B257D04-9C1D-07F0-2EC8-0DA7DD93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4616F-747E-0832-53F4-3DEEAFC2A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507-4647-44D0-BF08-E256FEAFE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06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F452B-90CB-B70A-FEFB-6D53CDB53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435C69-68EE-E302-E9F6-C93D98AAD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8FA2-54C0-461F-9042-B803C5F878E9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0F3FAF-2428-856A-70E1-6642946FD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62709D-CBB2-800B-4982-43F7FEF3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507-4647-44D0-BF08-E256FEAFE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12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73170D-DDBD-DAD3-9454-272A84AED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8FA2-54C0-461F-9042-B803C5F878E9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88FE8B-6732-8BD0-AE25-3CDA3693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A1239C-20A9-9C8F-4CA2-F895241C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507-4647-44D0-BF08-E256FEAFE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56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80453-ADA9-1A53-7DBE-5C37578A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5CB18E-1990-E21D-F8B5-EAE981332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38B68D-44C1-403D-3C0D-1A1E9D35C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9305F9-0E66-7035-F3E1-C92CB1E4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8FA2-54C0-461F-9042-B803C5F878E9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16470C-5503-3CB7-B4F8-4E297489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7A45B4-77B8-F39E-9951-B690C757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507-4647-44D0-BF08-E256FEAFE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147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B0CEE-05E0-784D-90BF-4D473084F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923574-06B1-5A5A-03B9-C82DF161E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7B7F36-7B31-C4AC-731F-FCEEDD549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F428EE-45A1-20F4-9CBE-172374DB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8FA2-54C0-461F-9042-B803C5F878E9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CDB835-2E3A-6474-AE02-BF30BDE9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E98BFD-DB6C-570B-10F9-2361D760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507-4647-44D0-BF08-E256FEAFE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606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5F1C0-AF32-62D1-F74E-B7E990762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8CE1E0-22C0-113B-BFBF-CE405793C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68EDD7-76B6-075A-88D9-5A5267A3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8FA2-54C0-461F-9042-B803C5F878E9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AADDA0-FF49-D2F7-6EB5-316D0CF1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A6028-BEBC-C1EB-D66F-6ED76BA2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507-4647-44D0-BF08-E256FEAFE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87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2E0D70-60D7-B7A0-085A-BD716111CF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860C13-04A0-AE36-8449-6D39EEBD9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1E4611-DFBA-6E4E-93BD-DE4F84C1D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8FA2-54C0-461F-9042-B803C5F878E9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EC010-26D2-1A8D-B9E4-268C853F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69CC6B-EA2C-EB53-B6D3-78E4A762E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507-4647-44D0-BF08-E256FEAFE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28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0D1039-C099-7279-DA57-F28F4DEB6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8FDD28-093D-103D-0BBC-5DEB15364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A58B38-C584-C540-054D-9E77EE24F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08FA2-54C0-461F-9042-B803C5F878E9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1E06D-CFCB-C564-9D9B-78CB76A794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90F5A9-0367-56BC-B702-754990A35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3E507-4647-44D0-BF08-E256FEAFE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59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08F8357-D5DC-7818-583A-693FB8DE652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A8171F-560C-64EE-51FC-C2550A3B9D96}"/>
              </a:ext>
            </a:extLst>
          </p:cNvPr>
          <p:cNvSpPr txBox="1"/>
          <p:nvPr/>
        </p:nvSpPr>
        <p:spPr>
          <a:xfrm>
            <a:off x="762000" y="1117600"/>
            <a:ext cx="762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100" b="1">
                <a:solidFill>
                  <a:srgbClr val="FFFFFF"/>
                </a:solidFill>
                <a:latin typeface="微软雅黑" panose="020B0503020204020204" pitchFamily="34" charset="-122"/>
              </a:rPr>
              <a:t>人工智能智慧交通项目实训 </a:t>
            </a:r>
            <a:r>
              <a:rPr lang="en-US" altLang="zh-CN" sz="3100" b="1">
                <a:solidFill>
                  <a:srgbClr val="FFFFFF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3100" b="1">
                <a:solidFill>
                  <a:srgbClr val="FFFFFF"/>
                </a:solidFill>
                <a:latin typeface="微软雅黑" panose="020B0503020204020204" pitchFamily="34" charset="-122"/>
              </a:rPr>
              <a:t>答辩汇报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307918-E188-B95B-C950-BF4A3A14D0E4}"/>
              </a:ext>
            </a:extLst>
          </p:cNvPr>
          <p:cNvSpPr txBox="1"/>
          <p:nvPr/>
        </p:nvSpPr>
        <p:spPr>
          <a:xfrm>
            <a:off x="762000" y="1803400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>
                <a:solidFill>
                  <a:srgbClr val="C8D2E6"/>
                </a:solidFill>
                <a:latin typeface="微软雅黑" panose="020B0503020204020204" pitchFamily="34" charset="-122"/>
              </a:rPr>
              <a:t>许俊磊 </a:t>
            </a:r>
            <a:r>
              <a:rPr lang="en-US" altLang="zh-CN" sz="1450">
                <a:solidFill>
                  <a:srgbClr val="C8D2E6"/>
                </a:solidFill>
                <a:latin typeface="微软雅黑" panose="020B0503020204020204" pitchFamily="34" charset="-122"/>
              </a:rPr>
              <a:t>· 202325310224 · 2026-09-22</a:t>
            </a:r>
            <a:endParaRPr lang="zh-CN" altLang="en-US" sz="1450">
              <a:solidFill>
                <a:srgbClr val="C8D2E6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B5A4C4-1D56-91A2-BBF4-E7BA75836885}"/>
              </a:ext>
            </a:extLst>
          </p:cNvPr>
          <p:cNvSpPr/>
          <p:nvPr/>
        </p:nvSpPr>
        <p:spPr>
          <a:xfrm>
            <a:off x="762000" y="2235200"/>
            <a:ext cx="2540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5B4946-719D-F6DA-E617-35E7179D7CBD}"/>
              </a:ext>
            </a:extLst>
          </p:cNvPr>
          <p:cNvSpPr txBox="1"/>
          <p:nvPr/>
        </p:nvSpPr>
        <p:spPr>
          <a:xfrm>
            <a:off x="762000" y="2463800"/>
            <a:ext cx="76200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>
                <a:solidFill>
                  <a:srgbClr val="FFFFFF"/>
                </a:solidFill>
                <a:latin typeface="微软雅黑" panose="020B0503020204020204" pitchFamily="34" charset="-122"/>
              </a:rPr>
              <a:t>摄像头取帧 → 车牌与车辆结构化事件 → </a:t>
            </a:r>
            <a:r>
              <a:rPr lang="en-US" altLang="zh-CN" sz="1450">
                <a:solidFill>
                  <a:srgbClr val="FFFFFF"/>
                </a:solidFill>
                <a:latin typeface="微软雅黑" panose="020B0503020204020204" pitchFamily="34" charset="-122"/>
              </a:rPr>
              <a:t>Kafka → TimescaleDB </a:t>
            </a:r>
            <a:r>
              <a:rPr lang="zh-CN" altLang="en-US" sz="1450">
                <a:solidFill>
                  <a:srgbClr val="FFFFFF"/>
                </a:solidFill>
                <a:latin typeface="微软雅黑" panose="020B0503020204020204" pitchFamily="34" charset="-122"/>
              </a:rPr>
              <a:t>时序库 → </a:t>
            </a:r>
            <a:r>
              <a:rPr lang="en-US" altLang="zh-CN" sz="1450">
                <a:solidFill>
                  <a:srgbClr val="FFFFFF"/>
                </a:solidFill>
                <a:latin typeface="微软雅黑" panose="020B0503020204020204" pitchFamily="34" charset="-122"/>
              </a:rPr>
              <a:t>LSTM </a:t>
            </a:r>
            <a:r>
              <a:rPr lang="zh-CN" altLang="en-US" sz="1450">
                <a:solidFill>
                  <a:srgbClr val="FFFFFF"/>
                </a:solidFill>
                <a:latin typeface="微软雅黑" panose="020B0503020204020204" pitchFamily="34" charset="-122"/>
              </a:rPr>
              <a:t>预测服务 → 多 </a:t>
            </a:r>
            <a:r>
              <a:rPr lang="en-US" altLang="zh-CN" sz="1450">
                <a:solidFill>
                  <a:srgbClr val="FFFFFF"/>
                </a:solidFill>
                <a:latin typeface="微软雅黑" panose="020B0503020204020204" pitchFamily="34" charset="-122"/>
              </a:rPr>
              <a:t>Agent </a:t>
            </a:r>
            <a:r>
              <a:rPr lang="zh-CN" altLang="en-US" sz="1450">
                <a:solidFill>
                  <a:srgbClr val="FFFFFF"/>
                </a:solidFill>
                <a:latin typeface="微软雅黑" panose="020B0503020204020204" pitchFamily="34" charset="-122"/>
              </a:rPr>
              <a:t>决策 → 大屏与 </a:t>
            </a:r>
            <a:r>
              <a:rPr lang="en-US" altLang="zh-CN" sz="1450">
                <a:solidFill>
                  <a:srgbClr val="FFFFFF"/>
                </a:solidFill>
                <a:latin typeface="微软雅黑" panose="020B0503020204020204" pitchFamily="34" charset="-122"/>
              </a:rPr>
              <a:t>WebGIS</a:t>
            </a:r>
            <a:endParaRPr lang="zh-CN" altLang="en-US" sz="145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7FAA4E-5872-DBF9-559D-752FDEAE7DF6}"/>
              </a:ext>
            </a:extLst>
          </p:cNvPr>
          <p:cNvSpPr/>
          <p:nvPr/>
        </p:nvSpPr>
        <p:spPr>
          <a:xfrm>
            <a:off x="762000" y="3276600"/>
            <a:ext cx="7620000" cy="787400"/>
          </a:xfrm>
          <a:prstGeom prst="rect">
            <a:avLst/>
          </a:prstGeom>
          <a:solidFill>
            <a:srgbClr val="2D48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351BDF-9F17-BC26-F02D-B2206E3A49CB}"/>
              </a:ext>
            </a:extLst>
          </p:cNvPr>
          <p:cNvSpPr txBox="1"/>
          <p:nvPr/>
        </p:nvSpPr>
        <p:spPr>
          <a:xfrm>
            <a:off x="939800" y="3429000"/>
            <a:ext cx="73152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>
                <a:solidFill>
                  <a:srgbClr val="D2DEF0"/>
                </a:solidFill>
                <a:latin typeface="微软雅黑" panose="020B0503020204020204" pitchFamily="34" charset="-122"/>
              </a:rPr>
              <a:t>汇报口径：每个数字都能指向一个文件或一条命令；未验证项显式标注 </a:t>
            </a:r>
            <a:r>
              <a:rPr lang="en-US" altLang="zh-CN" sz="1250">
                <a:solidFill>
                  <a:srgbClr val="D2DEF0"/>
                </a:solidFill>
                <a:latin typeface="微软雅黑" panose="020B0503020204020204" pitchFamily="34" charset="-122"/>
              </a:rPr>
              <a:t>BLOCKED / NOT_VERIFIED</a:t>
            </a:r>
            <a:r>
              <a:rPr lang="zh-CN" altLang="en-US" sz="1250">
                <a:solidFill>
                  <a:srgbClr val="D2DEF0"/>
                </a:solidFill>
                <a:latin typeface="微软雅黑" panose="020B0503020204020204" pitchFamily="34" charset="-122"/>
              </a:rPr>
              <a:t>，不用课件示例数字顶替本项目结果。</a:t>
            </a:r>
          </a:p>
        </p:txBody>
      </p:sp>
    </p:spTree>
    <p:extLst>
      <p:ext uri="{BB962C8B-B14F-4D97-AF65-F5344CB8AC3E}">
        <p14:creationId xmlns:p14="http://schemas.microsoft.com/office/powerpoint/2010/main" val="1029122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3840AB-EA7C-4464-909B-C13CABC7FC17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26676F-2AF5-A9F7-7A5B-9E78CE3D9D84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1302E0-C701-B7EE-E79E-2FE0B04C043F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目录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6EB6D4-C206-3676-42B3-9549CBC01524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02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0DAFEE-24B2-0FDD-C962-0D021881AFC0}"/>
              </a:ext>
            </a:extLst>
          </p:cNvPr>
          <p:cNvSpPr txBox="1"/>
          <p:nvPr/>
        </p:nvSpPr>
        <p:spPr>
          <a:xfrm>
            <a:off x="431800" y="889000"/>
            <a:ext cx="711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000" b="1">
                <a:solidFill>
                  <a:srgbClr val="C55A11"/>
                </a:solidFill>
                <a:latin typeface="微软雅黑" panose="020B0503020204020204" pitchFamily="34" charset="-122"/>
              </a:rPr>
              <a:t>01</a:t>
            </a:r>
            <a:endParaRPr lang="zh-CN" altLang="en-US" sz="2000" b="1">
              <a:solidFill>
                <a:srgbClr val="C55A1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BE0A3B-0610-1F86-9DD8-5B46B2C15B28}"/>
              </a:ext>
            </a:extLst>
          </p:cNvPr>
          <p:cNvSpPr txBox="1"/>
          <p:nvPr/>
        </p:nvSpPr>
        <p:spPr>
          <a:xfrm>
            <a:off x="1168400" y="9144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D2D2D"/>
                </a:solidFill>
                <a:latin typeface="微软雅黑" panose="020B0503020204020204" pitchFamily="34" charset="-122"/>
              </a:rPr>
              <a:t>任务与验收对照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4C45A7-C9A8-E838-02F7-53C43893A784}"/>
              </a:ext>
            </a:extLst>
          </p:cNvPr>
          <p:cNvSpPr txBox="1"/>
          <p:nvPr/>
        </p:nvSpPr>
        <p:spPr>
          <a:xfrm>
            <a:off x="1168400" y="1193800"/>
            <a:ext cx="711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课件七个方向 → 我的实现 → 真实状态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A08961-617D-2496-5110-46C9932F7513}"/>
              </a:ext>
            </a:extLst>
          </p:cNvPr>
          <p:cNvSpPr txBox="1"/>
          <p:nvPr/>
        </p:nvSpPr>
        <p:spPr>
          <a:xfrm>
            <a:off x="431800" y="1612900"/>
            <a:ext cx="711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000" b="1">
                <a:solidFill>
                  <a:srgbClr val="C55A11"/>
                </a:solidFill>
                <a:latin typeface="微软雅黑" panose="020B0503020204020204" pitchFamily="34" charset="-122"/>
              </a:rPr>
              <a:t>02</a:t>
            </a:r>
            <a:endParaRPr lang="zh-CN" altLang="en-US" sz="2000" b="1">
              <a:solidFill>
                <a:srgbClr val="C55A1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9D2886-857B-2B0B-D98E-25D0ACCD58D4}"/>
              </a:ext>
            </a:extLst>
          </p:cNvPr>
          <p:cNvSpPr txBox="1"/>
          <p:nvPr/>
        </p:nvSpPr>
        <p:spPr>
          <a:xfrm>
            <a:off x="1168400" y="16383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D2D2D"/>
                </a:solidFill>
                <a:latin typeface="微软雅黑" panose="020B0503020204020204" pitchFamily="34" charset="-122"/>
              </a:rPr>
              <a:t>系统架构与交付清单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25DD75-4F9D-4A2C-DB02-A2F7BBEEC6DA}"/>
              </a:ext>
            </a:extLst>
          </p:cNvPr>
          <p:cNvSpPr txBox="1"/>
          <p:nvPr/>
        </p:nvSpPr>
        <p:spPr>
          <a:xfrm>
            <a:off x="1168400" y="1917700"/>
            <a:ext cx="711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六段主链 </a:t>
            </a:r>
            <a:r>
              <a:rPr lang="en-US" altLang="zh-CN" sz="1150">
                <a:solidFill>
                  <a:srgbClr val="595959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可打开、可运行、可核对的产物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D23240-9315-B2A1-47FF-0088C3A457F7}"/>
              </a:ext>
            </a:extLst>
          </p:cNvPr>
          <p:cNvSpPr txBox="1"/>
          <p:nvPr/>
        </p:nvSpPr>
        <p:spPr>
          <a:xfrm>
            <a:off x="431800" y="2336800"/>
            <a:ext cx="711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000" b="1">
                <a:solidFill>
                  <a:srgbClr val="C55A11"/>
                </a:solidFill>
                <a:latin typeface="微软雅黑" panose="020B0503020204020204" pitchFamily="34" charset="-122"/>
              </a:rPr>
              <a:t>03</a:t>
            </a:r>
            <a:endParaRPr lang="zh-CN" altLang="en-US" sz="2000" b="1">
              <a:solidFill>
                <a:srgbClr val="C55A1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4102C0F-2354-2616-DBD9-22A7EBEF26DE}"/>
              </a:ext>
            </a:extLst>
          </p:cNvPr>
          <p:cNvSpPr txBox="1"/>
          <p:nvPr/>
        </p:nvSpPr>
        <p:spPr>
          <a:xfrm>
            <a:off x="1168400" y="23622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D2D2D"/>
                </a:solidFill>
                <a:latin typeface="微软雅黑" panose="020B0503020204020204" pitchFamily="34" charset="-122"/>
              </a:rPr>
              <a:t>关键指标：三档口径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9A2B47-E2C3-8634-246D-FEB6458228B6}"/>
              </a:ext>
            </a:extLst>
          </p:cNvPr>
          <p:cNvSpPr txBox="1"/>
          <p:nvPr/>
        </p:nvSpPr>
        <p:spPr>
          <a:xfrm>
            <a:off x="1168400" y="2641600"/>
            <a:ext cx="711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现场实跑 </a:t>
            </a:r>
            <a:r>
              <a:rPr lang="en-US" altLang="zh-CN" sz="1150">
                <a:solidFill>
                  <a:srgbClr val="595959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标注 </a:t>
            </a:r>
            <a:r>
              <a:rPr lang="en-US" altLang="zh-CN" sz="1150">
                <a:solidFill>
                  <a:srgbClr val="595959"/>
                </a:solidFill>
                <a:latin typeface="微软雅黑" panose="020B0503020204020204" pitchFamily="34" charset="-122"/>
              </a:rPr>
              <a:t>simulation </a:t>
            </a:r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的演示数据 </a:t>
            </a:r>
            <a:r>
              <a:rPr lang="en-US" altLang="zh-CN" sz="1150">
                <a:solidFill>
                  <a:srgbClr val="595959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未验证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E52844-E097-9007-A14D-C57CA0A07063}"/>
              </a:ext>
            </a:extLst>
          </p:cNvPr>
          <p:cNvSpPr txBox="1"/>
          <p:nvPr/>
        </p:nvSpPr>
        <p:spPr>
          <a:xfrm>
            <a:off x="431800" y="3060700"/>
            <a:ext cx="711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000" b="1">
                <a:solidFill>
                  <a:srgbClr val="C55A11"/>
                </a:solidFill>
                <a:latin typeface="微软雅黑" panose="020B0503020204020204" pitchFamily="34" charset="-122"/>
              </a:rPr>
              <a:t>04</a:t>
            </a:r>
            <a:endParaRPr lang="zh-CN" altLang="en-US" sz="2000" b="1">
              <a:solidFill>
                <a:srgbClr val="C55A1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E627A6F-58C8-9487-83CE-CB30692542EE}"/>
              </a:ext>
            </a:extLst>
          </p:cNvPr>
          <p:cNvSpPr txBox="1"/>
          <p:nvPr/>
        </p:nvSpPr>
        <p:spPr>
          <a:xfrm>
            <a:off x="1168400" y="30861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D2D2D"/>
                </a:solidFill>
                <a:latin typeface="微软雅黑" panose="020B0503020204020204" pitchFamily="34" charset="-122"/>
              </a:rPr>
              <a:t>五组演示与工程难点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CD368A2-43B6-DDF5-AE15-937619E1A763}"/>
              </a:ext>
            </a:extLst>
          </p:cNvPr>
          <p:cNvSpPr txBox="1"/>
          <p:nvPr/>
        </p:nvSpPr>
        <p:spPr>
          <a:xfrm>
            <a:off x="1168400" y="3365500"/>
            <a:ext cx="711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大屏 </a:t>
            </a:r>
            <a:r>
              <a:rPr lang="en-US" altLang="zh-CN" sz="1150">
                <a:solidFill>
                  <a:srgbClr val="59595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车牌取证 </a:t>
            </a:r>
            <a:r>
              <a:rPr lang="en-US" altLang="zh-CN" sz="1150">
                <a:solidFill>
                  <a:srgbClr val="595959"/>
                </a:solidFill>
                <a:latin typeface="微软雅黑" panose="020B0503020204020204" pitchFamily="34" charset="-122"/>
              </a:rPr>
              <a:t>· Flink </a:t>
            </a:r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预警 </a:t>
            </a:r>
            <a:r>
              <a:rPr lang="en-US" altLang="zh-CN" sz="1150">
                <a:solidFill>
                  <a:srgbClr val="595959"/>
                </a:solidFill>
                <a:latin typeface="微软雅黑" panose="020B0503020204020204" pitchFamily="34" charset="-122"/>
              </a:rPr>
              <a:t>· CrewAI · vLLM </a:t>
            </a:r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集成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8695D80-CED1-23C0-44FE-6436A1F93844}"/>
              </a:ext>
            </a:extLst>
          </p:cNvPr>
          <p:cNvSpPr txBox="1"/>
          <p:nvPr/>
        </p:nvSpPr>
        <p:spPr>
          <a:xfrm>
            <a:off x="431800" y="3784600"/>
            <a:ext cx="711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000" b="1">
                <a:solidFill>
                  <a:srgbClr val="C55A11"/>
                </a:solidFill>
                <a:latin typeface="微软雅黑" panose="020B0503020204020204" pitchFamily="34" charset="-122"/>
              </a:rPr>
              <a:t>05</a:t>
            </a:r>
            <a:endParaRPr lang="zh-CN" altLang="en-US" sz="2000" b="1">
              <a:solidFill>
                <a:srgbClr val="C55A1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DE266CC-F6EF-D3C6-3BA9-9099D23370CA}"/>
              </a:ext>
            </a:extLst>
          </p:cNvPr>
          <p:cNvSpPr txBox="1"/>
          <p:nvPr/>
        </p:nvSpPr>
        <p:spPr>
          <a:xfrm>
            <a:off x="1168400" y="38100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D2D2D"/>
                </a:solidFill>
                <a:latin typeface="微软雅黑" panose="020B0503020204020204" pitchFamily="34" charset="-122"/>
              </a:rPr>
              <a:t>未达成清单与下一步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EF0F4C-263B-4E24-E137-C3A1ECFF41C3}"/>
              </a:ext>
            </a:extLst>
          </p:cNvPr>
          <p:cNvSpPr txBox="1"/>
          <p:nvPr/>
        </p:nvSpPr>
        <p:spPr>
          <a:xfrm>
            <a:off x="1168400" y="4089400"/>
            <a:ext cx="711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主动交底 </a:t>
            </a:r>
            <a:r>
              <a:rPr lang="en-US" altLang="zh-CN" sz="1150">
                <a:solidFill>
                  <a:srgbClr val="595959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1150">
                <a:solidFill>
                  <a:srgbClr val="595959"/>
                </a:solidFill>
                <a:latin typeface="微软雅黑" panose="020B0503020204020204" pitchFamily="34" charset="-122"/>
              </a:rPr>
              <a:t>三件待补的事</a:t>
            </a:r>
          </a:p>
        </p:txBody>
      </p:sp>
    </p:spTree>
    <p:extLst>
      <p:ext uri="{BB962C8B-B14F-4D97-AF65-F5344CB8AC3E}">
        <p14:creationId xmlns:p14="http://schemas.microsoft.com/office/powerpoint/2010/main" val="307596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9F29B7F-8FAB-34B5-3DE3-AC95298C6EC0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4BA7B5-EB90-01F7-0FCC-3AB19C56DE6E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08EE76-1EA5-8028-B2CF-A7FBDBB3F242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01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任务与验收对照：课件要求 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vs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我的实现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F677FE-4E93-621D-1290-307D35A1393D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03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CCBA457-10A1-35FC-E2B8-AB1ADBF86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275203"/>
              </p:ext>
            </p:extLst>
          </p:nvPr>
        </p:nvGraphicFramePr>
        <p:xfrm>
          <a:off x="431800" y="889000"/>
          <a:ext cx="82804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0">
                  <a:extLst>
                    <a:ext uri="{9D8B030D-6E8A-4147-A177-3AD203B41FA5}">
                      <a16:colId xmlns:a16="http://schemas.microsoft.com/office/drawing/2014/main" val="266217203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04643135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739482277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课件方向</a:t>
                      </a:r>
                    </a:p>
                  </a:txBody>
                  <a:tcPr marL="63500" marR="635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本项目实现</a:t>
                      </a:r>
                    </a:p>
                  </a:txBody>
                  <a:tcPr marL="63500" marR="635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状态</a:t>
                      </a:r>
                    </a:p>
                  </a:txBody>
                  <a:tcPr marL="63500" marR="63500" marT="25400" marB="254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1486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视觉感知：车辆与车牌检测识别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OpenCV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取帧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YOLOv8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车辆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车牌二级检测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PaddleOCR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，事件带置信度与跟踪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ID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已实现；准确率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BLOCKED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77744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实时计算：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Flink SQL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统计与预警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source / sink / CEP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三段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SQL + submit.sh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五子命令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+ 83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项静态校验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集群实跑通过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7471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时序存储：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TimescaleDB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超表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分块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保留策略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+ 1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分钟连续聚合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已实现；物化行数待灌数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17025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交通预测：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LSTM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PyTorch → ONNX → FastAPI REST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X-API-Key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鉴权）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R²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达标，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MAE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记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FAIL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45219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多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Agent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CrewAI / LangChain / RAG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三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Agent hierarchical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应急处置；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道交法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》FAISS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检索四能力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CrewAI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真跑通；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LangChain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缺依赖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9663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模型服务化：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vLLM / Qwen-VL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本机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vLLM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起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OpenAI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兼容端点，真实推理成功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服务化成功；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Qwen-VL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欠费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BLOCKED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39218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呈现：大屏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WebGIS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Streamlit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五页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高德图层，监测范围演示化到广州天河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已实现；真实路况需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JS Key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2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40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33A25B7-DF80-80E1-9A95-43EA8D773BBD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EACE3F-B428-451C-F517-754852AFEDF2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5AC8ED-7F57-5B0A-AE59-7A6D1627B259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02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系统主链：一图六段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4A6437-12DE-BF45-721F-7FA02309F0B4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04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59D8768-0886-B0BF-8D8D-A6CEF0219CDA}"/>
              </a:ext>
            </a:extLst>
          </p:cNvPr>
          <p:cNvSpPr/>
          <p:nvPr/>
        </p:nvSpPr>
        <p:spPr>
          <a:xfrm>
            <a:off x="431800" y="863600"/>
            <a:ext cx="2235200" cy="787400"/>
          </a:xfrm>
          <a:prstGeom prst="roundRect">
            <a:avLst/>
          </a:prstGeom>
          <a:solidFill>
            <a:srgbClr val="1F4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tIns="76200" rIns="889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pitchFamily="34" charset="-122"/>
              </a:rPr>
              <a:t>感知层</a:t>
            </a:r>
          </a:p>
          <a:p>
            <a:pPr algn="ctr"/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OpenCV + YOLOv8 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车辆 </a:t>
            </a:r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车牌二级检测 </a:t>
            </a:r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+ PaddleOCR</a:t>
            </a:r>
            <a:endParaRPr lang="zh-CN" altLang="en-US" sz="1000">
              <a:solidFill>
                <a:srgbClr val="E0E8F4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1C24587-6210-D9EA-7FA3-18521D2194BE}"/>
              </a:ext>
            </a:extLst>
          </p:cNvPr>
          <p:cNvSpPr/>
          <p:nvPr/>
        </p:nvSpPr>
        <p:spPr>
          <a:xfrm>
            <a:off x="3098800" y="863600"/>
            <a:ext cx="2235200" cy="787400"/>
          </a:xfrm>
          <a:prstGeom prst="roundRect">
            <a:avLst/>
          </a:prstGeom>
          <a:solidFill>
            <a:srgbClr val="1F4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tIns="76200" rIns="889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pitchFamily="34" charset="-122"/>
              </a:rPr>
              <a:t>消息层</a:t>
            </a:r>
          </a:p>
          <a:p>
            <a:pPr algn="ctr"/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Kafka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camera-data / traffic_stream</a:t>
            </a:r>
            <a:endParaRPr lang="zh-CN" altLang="en-US" sz="1000">
              <a:solidFill>
                <a:srgbClr val="E0E8F4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3FF66BB-5992-09DD-3CCD-5CB839D37FAE}"/>
              </a:ext>
            </a:extLst>
          </p:cNvPr>
          <p:cNvSpPr/>
          <p:nvPr/>
        </p:nvSpPr>
        <p:spPr>
          <a:xfrm>
            <a:off x="5765800" y="863600"/>
            <a:ext cx="2235200" cy="787400"/>
          </a:xfrm>
          <a:prstGeom prst="roundRect">
            <a:avLst/>
          </a:prstGeom>
          <a:solidFill>
            <a:srgbClr val="1F4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tIns="76200" rIns="889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pitchFamily="34" charset="-122"/>
              </a:rPr>
              <a:t>存储层</a:t>
            </a:r>
          </a:p>
          <a:p>
            <a:pPr algn="ctr"/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TimescaleDB 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超表 </a:t>
            </a:r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连续聚合 </a:t>
            </a:r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保留策略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4D8DACC-AD18-14A5-5203-A1044A9B2707}"/>
              </a:ext>
            </a:extLst>
          </p:cNvPr>
          <p:cNvSpPr/>
          <p:nvPr/>
        </p:nvSpPr>
        <p:spPr>
          <a:xfrm>
            <a:off x="2705100" y="1143000"/>
            <a:ext cx="355600" cy="228600"/>
          </a:xfrm>
          <a:prstGeom prst="rightArrow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7C455C5C-F994-FCAC-9834-159442F7C65E}"/>
              </a:ext>
            </a:extLst>
          </p:cNvPr>
          <p:cNvSpPr/>
          <p:nvPr/>
        </p:nvSpPr>
        <p:spPr>
          <a:xfrm>
            <a:off x="5372100" y="1143000"/>
            <a:ext cx="355600" cy="228600"/>
          </a:xfrm>
          <a:prstGeom prst="rightArrow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35499543-AF07-60CA-A599-C94614FB759C}"/>
              </a:ext>
            </a:extLst>
          </p:cNvPr>
          <p:cNvSpPr/>
          <p:nvPr/>
        </p:nvSpPr>
        <p:spPr>
          <a:xfrm>
            <a:off x="6769100" y="1714500"/>
            <a:ext cx="228600" cy="558800"/>
          </a:xfrm>
          <a:prstGeom prst="rightBrace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BC0C66B-F868-0414-F71F-E172C9D37565}"/>
              </a:ext>
            </a:extLst>
          </p:cNvPr>
          <p:cNvSpPr/>
          <p:nvPr/>
        </p:nvSpPr>
        <p:spPr>
          <a:xfrm>
            <a:off x="5765800" y="2336800"/>
            <a:ext cx="2235200" cy="787400"/>
          </a:xfrm>
          <a:prstGeom prst="roundRect">
            <a:avLst/>
          </a:prstGeom>
          <a:solidFill>
            <a:srgbClr val="2C5A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tIns="76200" rIns="889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pitchFamily="34" charset="-122"/>
              </a:rPr>
              <a:t>预测层</a:t>
            </a:r>
          </a:p>
          <a:p>
            <a:pPr algn="ctr"/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LSTM → ONNX → FastAPI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X-API-Key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98CC2C5-C64E-08FB-EBD0-76B5EC0501CC}"/>
              </a:ext>
            </a:extLst>
          </p:cNvPr>
          <p:cNvSpPr/>
          <p:nvPr/>
        </p:nvSpPr>
        <p:spPr>
          <a:xfrm>
            <a:off x="3098800" y="2336800"/>
            <a:ext cx="2235200" cy="787400"/>
          </a:xfrm>
          <a:prstGeom prst="roundRect">
            <a:avLst/>
          </a:prstGeom>
          <a:solidFill>
            <a:srgbClr val="2C5A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tIns="76200" rIns="889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pitchFamily="34" charset="-122"/>
              </a:rPr>
              <a:t>决策层</a:t>
            </a:r>
          </a:p>
          <a:p>
            <a:pPr algn="ctr"/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CrewAI 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三 </a:t>
            </a:r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Agent · LangChain · 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法规 </a:t>
            </a:r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RAG · Flink CEP</a:t>
            </a:r>
            <a:endParaRPr lang="zh-CN" altLang="en-US" sz="1000">
              <a:solidFill>
                <a:srgbClr val="E0E8F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35ADCE5-0947-95DC-C455-5876DB133133}"/>
              </a:ext>
            </a:extLst>
          </p:cNvPr>
          <p:cNvSpPr/>
          <p:nvPr/>
        </p:nvSpPr>
        <p:spPr>
          <a:xfrm>
            <a:off x="431800" y="2336800"/>
            <a:ext cx="2235200" cy="787400"/>
          </a:xfrm>
          <a:prstGeom prst="roundRect">
            <a:avLst/>
          </a:prstGeom>
          <a:solidFill>
            <a:srgbClr val="2C5A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tIns="76200" rIns="889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pitchFamily="34" charset="-122"/>
              </a:rPr>
              <a:t>呈现层</a:t>
            </a:r>
          </a:p>
          <a:p>
            <a:pPr algn="ctr"/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Streamlit 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大屏 </a:t>
            </a:r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高德 </a:t>
            </a:r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WebGIS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（天河）</a:t>
            </a:r>
            <a:r>
              <a:rPr lang="en-US" altLang="zh-CN" sz="1000">
                <a:solidFill>
                  <a:srgbClr val="E0E8F4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E0E8F4"/>
                </a:solidFill>
                <a:latin typeface="微软雅黑" panose="020B0503020204020204" pitchFamily="34" charset="-122"/>
              </a:rPr>
              <a:t>通告落盘</a:t>
            </a:r>
          </a:p>
        </p:txBody>
      </p:sp>
      <p:sp>
        <p:nvSpPr>
          <p:cNvPr id="15" name="箭头: 左弧形 14">
            <a:extLst>
              <a:ext uri="{FF2B5EF4-FFF2-40B4-BE49-F238E27FC236}">
                <a16:creationId xmlns:a16="http://schemas.microsoft.com/office/drawing/2014/main" id="{519FB734-E0F7-F15D-C5B1-A2F70845AF10}"/>
              </a:ext>
            </a:extLst>
          </p:cNvPr>
          <p:cNvSpPr/>
          <p:nvPr/>
        </p:nvSpPr>
        <p:spPr>
          <a:xfrm>
            <a:off x="5372100" y="2616200"/>
            <a:ext cx="355600" cy="228600"/>
          </a:xfrm>
          <a:prstGeom prst="curvedRightArrow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箭头: 左弧形 15">
            <a:extLst>
              <a:ext uri="{FF2B5EF4-FFF2-40B4-BE49-F238E27FC236}">
                <a16:creationId xmlns:a16="http://schemas.microsoft.com/office/drawing/2014/main" id="{1E51C450-541A-EB4A-9112-2B2E76F66C81}"/>
              </a:ext>
            </a:extLst>
          </p:cNvPr>
          <p:cNvSpPr/>
          <p:nvPr/>
        </p:nvSpPr>
        <p:spPr>
          <a:xfrm>
            <a:off x="2705100" y="2616200"/>
            <a:ext cx="355600" cy="228600"/>
          </a:xfrm>
          <a:prstGeom prst="curvedRightArrow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EEC489D-DB92-645D-623B-4176018C40B1}"/>
              </a:ext>
            </a:extLst>
          </p:cNvPr>
          <p:cNvSpPr/>
          <p:nvPr/>
        </p:nvSpPr>
        <p:spPr>
          <a:xfrm>
            <a:off x="431800" y="3302000"/>
            <a:ext cx="8280400" cy="558800"/>
          </a:xfrm>
          <a:prstGeom prst="round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tlCol="0" anchor="ctr"/>
          <a:lstStyle/>
          <a:p>
            <a:pPr algn="ctr"/>
            <a:r>
              <a:rPr lang="zh-CN" altLang="en-US" sz="1100">
                <a:solidFill>
                  <a:srgbClr val="3C3C3C"/>
                </a:solidFill>
                <a:latin typeface="微软雅黑" panose="020B0503020204020204" pitchFamily="34" charset="-122"/>
              </a:rPr>
              <a:t>底座：</a:t>
            </a:r>
            <a:r>
              <a:rPr lang="en-US" altLang="zh-CN" sz="1100">
                <a:solidFill>
                  <a:srgbClr val="3C3C3C"/>
                </a:solidFill>
                <a:latin typeface="微软雅黑" panose="020B0503020204020204" pitchFamily="34" charset="-122"/>
              </a:rPr>
              <a:t>Docker Compose </a:t>
            </a:r>
            <a:r>
              <a:rPr lang="zh-CN" altLang="en-US" sz="1100">
                <a:solidFill>
                  <a:srgbClr val="3C3C3C"/>
                </a:solidFill>
                <a:latin typeface="微软雅黑" panose="020B0503020204020204" pitchFamily="34" charset="-122"/>
              </a:rPr>
              <a:t>四 </a:t>
            </a:r>
            <a:r>
              <a:rPr lang="en-US" altLang="zh-CN" sz="1100">
                <a:solidFill>
                  <a:srgbClr val="3C3C3C"/>
                </a:solidFill>
                <a:latin typeface="微软雅黑" panose="020B0503020204020204" pitchFamily="34" charset="-122"/>
              </a:rPr>
              <a:t>profile</a:t>
            </a:r>
            <a:r>
              <a:rPr lang="zh-CN" altLang="en-US" sz="1100">
                <a:solidFill>
                  <a:srgbClr val="3C3C3C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1100">
                <a:solidFill>
                  <a:srgbClr val="3C3C3C"/>
                </a:solidFill>
                <a:latin typeface="微软雅黑" panose="020B0503020204020204" pitchFamily="34" charset="-122"/>
              </a:rPr>
              <a:t>base / flink / vllm / acceptance</a:t>
            </a:r>
            <a:r>
              <a:rPr lang="zh-CN" altLang="en-US" sz="1100">
                <a:solidFill>
                  <a:srgbClr val="3C3C3C"/>
                </a:solidFill>
                <a:latin typeface="微软雅黑" panose="020B0503020204020204" pitchFamily="34" charset="-122"/>
              </a:rPr>
              <a:t>）</a:t>
            </a:r>
            <a:r>
              <a:rPr lang="en-US" altLang="zh-CN" sz="1100">
                <a:solidFill>
                  <a:srgbClr val="3C3C3C"/>
                </a:solidFill>
                <a:latin typeface="微软雅黑" panose="020B0503020204020204" pitchFamily="34" charset="-122"/>
              </a:rPr>
              <a:t>· acceptance </a:t>
            </a:r>
            <a:r>
              <a:rPr lang="zh-CN" altLang="en-US" sz="1100">
                <a:solidFill>
                  <a:srgbClr val="3C3C3C"/>
                </a:solidFill>
                <a:latin typeface="微软雅黑" panose="020B0503020204020204" pitchFamily="34" charset="-122"/>
              </a:rPr>
              <a:t>质量门禁 </a:t>
            </a:r>
            <a:r>
              <a:rPr lang="en-US" altLang="zh-CN" sz="1100">
                <a:solidFill>
                  <a:srgbClr val="3C3C3C"/>
                </a:solidFill>
                <a:latin typeface="微软雅黑" panose="020B0503020204020204" pitchFamily="34" charset="-122"/>
              </a:rPr>
              <a:t>16 </a:t>
            </a:r>
            <a:r>
              <a:rPr lang="zh-CN" altLang="en-US" sz="1100">
                <a:solidFill>
                  <a:srgbClr val="3C3C3C"/>
                </a:solidFill>
                <a:latin typeface="微软雅黑" panose="020B0503020204020204" pitchFamily="34" charset="-122"/>
              </a:rPr>
              <a:t>项</a:t>
            </a:r>
          </a:p>
          <a:p>
            <a:pPr algn="ctr"/>
            <a:r>
              <a:rPr lang="zh-CN" altLang="en-US" sz="1100">
                <a:solidFill>
                  <a:srgbClr val="3C3C3C"/>
                </a:solidFill>
                <a:latin typeface="微软雅黑" panose="020B0503020204020204" pitchFamily="34" charset="-122"/>
              </a:rPr>
              <a:t>端点、密钥、模型名全部由环境变量注入，仓库内不写死任何一项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89BDD4D-E549-8917-D13A-8B1A935249AE}"/>
              </a:ext>
            </a:extLst>
          </p:cNvPr>
          <p:cNvSpPr txBox="1"/>
          <p:nvPr/>
        </p:nvSpPr>
        <p:spPr>
          <a:xfrm>
            <a:off x="431800" y="3987800"/>
            <a:ext cx="82804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统一口径：任何一段缺依赖或缺密钥就返回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degraded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，并把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simulation=true / verified=false / source=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逐字段透传到大屏与报告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——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降级是显式的，不是被异常掩盖的。</a:t>
            </a:r>
          </a:p>
        </p:txBody>
      </p:sp>
    </p:spTree>
    <p:extLst>
      <p:ext uri="{BB962C8B-B14F-4D97-AF65-F5344CB8AC3E}">
        <p14:creationId xmlns:p14="http://schemas.microsoft.com/office/powerpoint/2010/main" val="3119888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09CD25-D8DA-F23A-071E-996C8A13ACD0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1BD14-1410-A930-EC17-424D3E962D55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E54927-2218-7D91-7559-207969F3664F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02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交付清单：可打开、可运行、可核对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D8373C-9852-EB0D-7A77-3E0AD4CE19C0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05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925BA7-5069-0142-0D55-926C0686C07B}"/>
              </a:ext>
            </a:extLst>
          </p:cNvPr>
          <p:cNvSpPr txBox="1"/>
          <p:nvPr/>
        </p:nvSpPr>
        <p:spPr>
          <a:xfrm>
            <a:off x="431800" y="889000"/>
            <a:ext cx="8280400" cy="3031599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▪ 代码：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intel-transportation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共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181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个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.py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AST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语法复扫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0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错误；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backend/{vision, db, agent, rag, crew, flink, integration, prediction, dashboard_api} + core + dashboard</a:t>
            </a:r>
          </a:p>
          <a:p>
            <a:pPr>
              <a:spcAft>
                <a:spcPts val="700"/>
              </a:spcAft>
            </a:pP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数据与部署：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backend/sql/init_pipeline.sql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（超表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连续聚合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事件表）、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docker-compose.yml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四个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profile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.env.example</a:t>
            </a:r>
          </a:p>
          <a:p>
            <a:pPr>
              <a:spcAft>
                <a:spcPts val="700"/>
              </a:spcAft>
            </a:pP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模型制品：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yolov8n.pt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、车牌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exp-7.pt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exp-7.onnx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LSTM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候选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traffic_lstm_china_kdd2017_candidate_v1.onnx</a:t>
            </a:r>
          </a:p>
          <a:p>
            <a:pPr>
              <a:spcAft>
                <a:spcPts val="700"/>
              </a:spcAft>
            </a:pP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实时作业：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backend/flink/sql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三段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SQL + conf + submit.sh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（校验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提交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状态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检查点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停止）</a:t>
            </a:r>
          </a:p>
          <a:p>
            <a:pPr>
              <a:spcAft>
                <a:spcPts val="700"/>
              </a:spcAft>
            </a:pP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▪ 测试：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unittest + pytest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合计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303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条（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300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通过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/ 1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失败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/ 2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跳过），大屏侧另有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13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条</a:t>
            </a:r>
          </a:p>
          <a:p>
            <a:pPr>
              <a:spcAft>
                <a:spcPts val="700"/>
              </a:spcAft>
            </a:pP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▪ 质量门禁：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python -m acceptance.run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共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16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项，输出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PASS / FAIL / BLOCKED / NOT_VERIFIED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md + json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报告；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9/22 DOC-001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已转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PASS</a:t>
            </a:r>
          </a:p>
          <a:p>
            <a:pPr>
              <a:spcAft>
                <a:spcPts val="700"/>
              </a:spcAft>
            </a:pP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文档：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README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docs/deployment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docs/acceptance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test_report.pdf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performance.xlsx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25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张运行截图、实验报告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docx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43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页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/ 25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图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/ 10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表）</a:t>
            </a:r>
          </a:p>
        </p:txBody>
      </p:sp>
    </p:spTree>
    <p:extLst>
      <p:ext uri="{BB962C8B-B14F-4D97-AF65-F5344CB8AC3E}">
        <p14:creationId xmlns:p14="http://schemas.microsoft.com/office/powerpoint/2010/main" val="3926978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6FA719-1E25-F984-04AA-51813A4AE17D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E5F815-0E35-5DEA-AF18-96E90106C4A0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02193B-1B8A-ED4B-B0C7-5D2EB4037A64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03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关键指标：三档口径，不混用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1C21C4-B059-876A-B859-E0F7263CA92A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06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A22B8DC-4A7B-751B-A10E-9EB5DC6AF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142760"/>
              </p:ext>
            </p:extLst>
          </p:nvPr>
        </p:nvGraphicFramePr>
        <p:xfrm>
          <a:off x="431800" y="889000"/>
          <a:ext cx="82804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999887562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3989159444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339013559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指标</a:t>
                      </a:r>
                    </a:p>
                  </a:txBody>
                  <a:tcPr marL="63500" marR="63500" marT="25400" marB="25400">
                    <a:solidFill>
                      <a:srgbClr val="2C5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读数</a:t>
                      </a:r>
                    </a:p>
                  </a:txBody>
                  <a:tcPr marL="63500" marR="63500" marT="25400" marB="25400">
                    <a:solidFill>
                      <a:srgbClr val="2C5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口径与出处</a:t>
                      </a:r>
                    </a:p>
                  </a:txBody>
                  <a:tcPr marL="63500" marR="63500" marT="25400" marB="25400">
                    <a:solidFill>
                      <a:srgbClr val="2C5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2236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预测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R²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0.8644117562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（门槛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0.85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达成）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独立测试集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1 467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个窗口，落盘指标文件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36834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预测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MAE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9.8123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（同数据基线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10.526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课件要求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&lt; 5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未达 → 记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FAIL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，不换口径凑数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35973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Flink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落库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speed_stats 13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行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/ traffic_alerts 38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行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89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条事件，绿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17 /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黄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19 /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红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 /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紫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，集群实跑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97738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检查点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39/39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完成、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0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失败，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EXACTLY_ONCE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Web UI + REST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复核；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RocksDB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增量、间隔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15 s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4107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模型内核耗时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车牌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14.88 ms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67.19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次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秒）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· LSTM 0.07 ms ·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车辆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20.42 ms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onnxruntime CPU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model_only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口径，不是端到端延迟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58021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本机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vLLM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TTFT 311 ms · </a:t>
                      </a:r>
                      <a:r>
                        <a:rPr lang="zh-CN" altLang="nl-NL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端到端 </a:t>
                      </a:r>
                      <a:r>
                        <a:rPr lang="nl-NL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3.23 s · ≈55 token/s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仅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2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次请求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+ 1.5B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模型 → 服务化性能记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NOT_VERIFIED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92061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CrewAI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处置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三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Agent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层级编排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+ 6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类工具证据落盘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9/21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真实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qwen-plus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跑通；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Mock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运行另存一份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213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493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6823BF4-FAEE-AD57-DB6F-38D51EB642C6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D84D46-E98A-F6C5-9BB9-1FEF64222B2D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137123-5324-6A6B-2F6A-AF759FF392B3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04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五组可当场演示的能力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977318-9195-3CB0-6E4E-8648A4320044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07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617F6A5-5AA2-CD0C-BD52-36AAE9363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785188"/>
              </p:ext>
            </p:extLst>
          </p:nvPr>
        </p:nvGraphicFramePr>
        <p:xfrm>
          <a:off x="431800" y="889000"/>
          <a:ext cx="82804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36197243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1446793628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159999937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演示</a:t>
                      </a:r>
                    </a:p>
                  </a:txBody>
                  <a:tcPr marL="63500" marR="635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起法</a:t>
                      </a:r>
                    </a:p>
                  </a:txBody>
                  <a:tcPr marL="63500" marR="635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看点</a:t>
                      </a:r>
                    </a:p>
                  </a:txBody>
                  <a:tcPr marL="63500" marR="63500" marT="25400" marB="254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69853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① 大屏与数据链（天河）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compose up → dashboard_api → streamlit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KPI /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趋势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车型环图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高德图层，状态栏打印数据来路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90126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② 车牌识别与违法取证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main.py --headless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或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curl /vision/plate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检测框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二级裁剪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OCR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文本与置信度，抓拍图落盘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5753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③ Flink SQL + CEP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四级预警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--profile flink up → submit.sh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Web UI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检查点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39/39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；库侧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13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行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+ 38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行分级计数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26141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④ CrewAI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三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Agent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处置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crew_smoke.py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Mock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必成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/ --live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真模型）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478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行协作日志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运行级审计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公众通告落盘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08235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⑤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vLLM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服务化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集成链路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docker run --gpus all → system_integration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五段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ok/degraded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逐条打印，末段推给大屏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987930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6F53F21-F66B-6AD0-F199-C8D6FE5B15C9}"/>
              </a:ext>
            </a:extLst>
          </p:cNvPr>
          <p:cNvSpPr txBox="1"/>
          <p:nvPr/>
        </p:nvSpPr>
        <p:spPr>
          <a:xfrm>
            <a:off x="431800" y="3200400"/>
            <a:ext cx="82804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被问到就要说：五组演示各有可核对的落盘产物（截图、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jsonl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、日志、门禁报告）；但 ②的准确率、⑤的吞吐目前仍是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BLOCKED / NOT_VERIFIED ——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演示只证明链路通，不证明指标达线。</a:t>
            </a:r>
          </a:p>
        </p:txBody>
      </p:sp>
    </p:spTree>
    <p:extLst>
      <p:ext uri="{BB962C8B-B14F-4D97-AF65-F5344CB8AC3E}">
        <p14:creationId xmlns:p14="http://schemas.microsoft.com/office/powerpoint/2010/main" val="2338835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5758F4-1BDE-F7F9-E4A5-1FC388C16FB9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8744EE-CAE5-476F-4978-869C8F397090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621A33-4DAB-9540-0E35-A3AB86BD1A44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04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我踩到并解决的坑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A88C5C-5440-3FAD-1BFD-0B0E3CBF0111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08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048188-E532-C151-401B-5B426C30589E}"/>
              </a:ext>
            </a:extLst>
          </p:cNvPr>
          <p:cNvSpPr txBox="1"/>
          <p:nvPr/>
        </p:nvSpPr>
        <p:spPr>
          <a:xfrm>
            <a:off x="431800" y="889000"/>
            <a:ext cx="8280400" cy="3131627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端口抢占：本机常驻另一套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Postgres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占着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5432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compose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重建容器直接失败 → 宿主端口改成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${TIMESCALEDB_HOST_PORT:-55432}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，容器内仍是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5432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Flink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走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docker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网络不受影响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Git Bash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路径改写：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/models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被换成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Windows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路径，容器挂不上权重 → 起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vLLM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必须带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MSYS_NO_PATHCONV=1</a:t>
            </a:r>
          </a:p>
          <a:p>
            <a:pPr>
              <a:spcAft>
                <a:spcPts val="700"/>
              </a:spcAft>
            </a:pP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显存约束：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8 GB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装不下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7B FP16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（权重约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14 GB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）→ 换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Qwen2.5-1.5B-Instruct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，并在报告里写明两者不能互为代表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云端回落陷阱：不把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TRAFFIC_VLLM_API_KEY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显式置空，配置会拿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DASHSCOPE_API_KEY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把请求发去云端，本地推理就成了假象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CEP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未闭合段重复落表 → 要求显式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END_SLOW / END_CRIT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，宁可少落一行也不虚报持续时长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CrewAI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审计缺口：脚本直接调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run_crew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绕开了服务层，真实跑通那一次没留下运行级记录 → 改走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service.respond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，落盘只由服务层负责一次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单测全绿但服务起不来：装配顺序与图标白名单这类缺陷只在真实启动时暴露 → 补跑真实请求，并保留那条因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langchain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缺失而失败的用例</a:t>
            </a:r>
          </a:p>
        </p:txBody>
      </p:sp>
    </p:spTree>
    <p:extLst>
      <p:ext uri="{BB962C8B-B14F-4D97-AF65-F5344CB8AC3E}">
        <p14:creationId xmlns:p14="http://schemas.microsoft.com/office/powerpoint/2010/main" val="3270169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8CD2D4-42AB-3053-2D82-9D2CBDA56CC0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0CFEC2-987A-4646-3911-316B80028B08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AD1908-21ED-B40B-1C7E-C494A6EC38D5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05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未达成 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未验证清单（主动交底）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6A8B6A-B320-F57F-39D4-7BA249DD8DE7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09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F40B7C-F76D-AC64-55CD-B31119765C74}"/>
              </a:ext>
            </a:extLst>
          </p:cNvPr>
          <p:cNvSpPr txBox="1"/>
          <p:nvPr/>
        </p:nvSpPr>
        <p:spPr>
          <a:xfrm>
            <a:off x="431800" y="889000"/>
            <a:ext cx="8280400" cy="3221395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车辆检测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mAP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、整牌准确率：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BLOCKED ——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缺人工真值集，置信度与内核耗时都不能替代准确率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真实端到端延迟、全链路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&lt; 200 ms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BLOCKED / NOT_VERIFIED ——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只有内核与单段读数，缺统一时序与预热口径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Qwen-VL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真实视频解说：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BLOCKED ——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百炼账号欠费（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HTTP 400 Arrearage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）；本机显存需量化或换小模型后再跑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LangChain Agent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真实问答与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ReAct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闭环：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NOT_VERIFIED ——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两个环境都缺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langchain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依赖，只演示未启用态的诚实降级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连续聚合物化行数：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NOT_VERIFIED —— checkpoint_traffic_1m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当前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0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行，需把样本灌入后再看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RAG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真实嵌入检索质量（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Top-3 &gt; 85%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）：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NOT_VERIFIED ——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当前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hashing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后端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+ FAISS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，只证明切块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检索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出处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降级四件事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课件要求但本项目未实现九项：滞后与滑窗特征、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SHAP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归因、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TimescaleDB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压缩策略、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Flink allowedLateness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WebSocket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主动推送、车端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MQTT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与边缘实机、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PDF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法规直接入库、拥堵指数、行人检测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《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系统集成测试报告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》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独立提交件：尚未成文（现有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integration_report.md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只是脚本的运行输出）</a:t>
            </a:r>
          </a:p>
        </p:txBody>
      </p:sp>
    </p:spTree>
    <p:extLst>
      <p:ext uri="{BB962C8B-B14F-4D97-AF65-F5344CB8AC3E}">
        <p14:creationId xmlns:p14="http://schemas.microsoft.com/office/powerpoint/2010/main" val="355865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E0FE185-87F8-45EE-520F-93EE5578EF73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80EE1F-E4D0-E0B4-A35B-35679DE6B9DC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D0091-A740-AE09-A083-BA517C35A846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05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总结：这条链跑通了，边界也很清楚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D2B282-E72D-6629-0826-EA5C8BC04F9C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10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058408-BE58-DCEC-028A-18C4EB0973D4}"/>
              </a:ext>
            </a:extLst>
          </p:cNvPr>
          <p:cNvSpPr txBox="1"/>
          <p:nvPr/>
        </p:nvSpPr>
        <p:spPr>
          <a:xfrm>
            <a:off x="431800" y="889000"/>
            <a:ext cx="8280400" cy="1726114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▪ 做完了：六段主链全部打通并在真实容器集群上跑过 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—— 89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条事件 → 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13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行统计 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+ 38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行预警 → 预测 → 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Agent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方案 → 推回大屏；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303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条测试、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16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项门禁、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25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张运行截图作为过程证据</a:t>
            </a:r>
          </a:p>
          <a:p>
            <a:pPr>
              <a:spcAft>
                <a:spcPts val="700"/>
              </a:spcAft>
            </a:pP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▪ 做对了口径：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R²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达标就说达标，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MAE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未达就记 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FAIL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，内核耗时不冒充端到端，演示数据一律带 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simulation=true</a:t>
            </a:r>
          </a:p>
          <a:p>
            <a:pPr>
              <a:spcAft>
                <a:spcPts val="700"/>
              </a:spcAft>
            </a:pP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下一步三件事（按代价从小到大）：① 补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《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系统集成测试报告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》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成文；② 人工标注真值集，把 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mAP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与整牌准确率从 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BLOCKED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转成实测；③ 修预测段的数据契约（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speed_stats 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加 </a:t>
            </a:r>
            <a:r>
              <a:rPr lang="en-US" altLang="zh-CN">
                <a:solidFill>
                  <a:srgbClr val="2D2D2D"/>
                </a:solidFill>
                <a:latin typeface="微软雅黑" panose="020B0503020204020204" pitchFamily="34" charset="-122"/>
              </a:rPr>
              <a:t>checkpoint_id</a:t>
            </a:r>
            <a:r>
              <a:rPr lang="zh-CN" altLang="en-US">
                <a:solidFill>
                  <a:srgbClr val="2D2D2D"/>
                </a:solidFill>
                <a:latin typeface="微软雅黑" panose="020B0503020204020204" pitchFamily="34" charset="-122"/>
              </a:rPr>
              <a:t>），让五段链路全部走真实库表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2AAFC8-5F9D-BF5B-DAB9-8D5DCA5218CA}"/>
              </a:ext>
            </a:extLst>
          </p:cNvPr>
          <p:cNvSpPr txBox="1"/>
          <p:nvPr/>
        </p:nvSpPr>
        <p:spPr>
          <a:xfrm>
            <a:off x="431800" y="3175000"/>
            <a:ext cx="8280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95959"/>
                </a:solidFill>
                <a:latin typeface="微软雅黑" panose="020B0503020204020204" pitchFamily="34" charset="-122"/>
              </a:rPr>
              <a:t>以上正文结束。后面十页附录是演示细节与复现环境，供追问时查阅。</a:t>
            </a:r>
          </a:p>
        </p:txBody>
      </p:sp>
    </p:spTree>
    <p:extLst>
      <p:ext uri="{BB962C8B-B14F-4D97-AF65-F5344CB8AC3E}">
        <p14:creationId xmlns:p14="http://schemas.microsoft.com/office/powerpoint/2010/main" val="3733190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A0A8DF6-EE01-F007-B216-FA1F124E216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F8249B-E27C-BAB2-860C-065A5B3619E2}"/>
              </a:ext>
            </a:extLst>
          </p:cNvPr>
          <p:cNvSpPr txBox="1"/>
          <p:nvPr/>
        </p:nvSpPr>
        <p:spPr>
          <a:xfrm>
            <a:off x="762000" y="1549400"/>
            <a:ext cx="762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000" b="1">
                <a:solidFill>
                  <a:srgbClr val="FFFFFF"/>
                </a:solidFill>
                <a:latin typeface="微软雅黑" panose="020B0503020204020204" pitchFamily="34" charset="-122"/>
              </a:rPr>
              <a:t>谢谢 </a:t>
            </a:r>
            <a:r>
              <a:rPr lang="en-US" altLang="zh-CN" sz="3000" b="1">
                <a:solidFill>
                  <a:srgbClr val="FFFFFF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3000" b="1">
                <a:solidFill>
                  <a:srgbClr val="FFFFFF"/>
                </a:solidFill>
                <a:latin typeface="微软雅黑" panose="020B0503020204020204" pitchFamily="34" charset="-122"/>
              </a:rPr>
              <a:t>请老师指正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BED40C-2EC0-BD4B-350D-F829BF801907}"/>
              </a:ext>
            </a:extLst>
          </p:cNvPr>
          <p:cNvSpPr/>
          <p:nvPr/>
        </p:nvSpPr>
        <p:spPr>
          <a:xfrm>
            <a:off x="762000" y="2235200"/>
            <a:ext cx="2032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5F8228-2C5F-3B31-0F37-8B45F1DA2F68}"/>
              </a:ext>
            </a:extLst>
          </p:cNvPr>
          <p:cNvSpPr txBox="1"/>
          <p:nvPr/>
        </p:nvSpPr>
        <p:spPr>
          <a:xfrm>
            <a:off x="762000" y="2489200"/>
            <a:ext cx="7620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>
                <a:solidFill>
                  <a:srgbClr val="DCE4F0"/>
                </a:solidFill>
                <a:latin typeface="微软雅黑" panose="020B0503020204020204" pitchFamily="34" charset="-122"/>
              </a:rPr>
              <a:t>这条链从摄像头跑到屏幕、再跑回一份处置方案，全程可复现；</a:t>
            </a:r>
          </a:p>
          <a:p>
            <a:r>
              <a:rPr lang="zh-CN" altLang="en-US" sz="1450">
                <a:solidFill>
                  <a:srgbClr val="DCE4F0"/>
                </a:solidFill>
                <a:latin typeface="微软雅黑" panose="020B0503020204020204" pitchFamily="34" charset="-122"/>
              </a:rPr>
              <a:t>没做到的部分逐行写在报告 </a:t>
            </a:r>
            <a:r>
              <a:rPr lang="en-US" altLang="zh-CN" sz="1450">
                <a:solidFill>
                  <a:srgbClr val="DCE4F0"/>
                </a:solidFill>
                <a:latin typeface="微软雅黑" panose="020B0503020204020204" pitchFamily="34" charset="-122"/>
              </a:rPr>
              <a:t>4.2</a:t>
            </a:r>
            <a:r>
              <a:rPr lang="zh-CN" altLang="en-US" sz="1450">
                <a:solidFill>
                  <a:srgbClr val="DCE4F0"/>
                </a:solidFill>
                <a:latin typeface="微软雅黑" panose="020B0503020204020204" pitchFamily="34" charset="-122"/>
              </a:rPr>
              <a:t>，没有用示例数字补。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9F2F1C-B97F-74BF-8275-71C7846F6EEE}"/>
              </a:ext>
            </a:extLst>
          </p:cNvPr>
          <p:cNvSpPr txBox="1"/>
          <p:nvPr/>
        </p:nvSpPr>
        <p:spPr>
          <a:xfrm>
            <a:off x="762000" y="3708400"/>
            <a:ext cx="762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A0AFC8"/>
                </a:solidFill>
                <a:latin typeface="微软雅黑" panose="020B0503020204020204" pitchFamily="34" charset="-122"/>
              </a:rPr>
              <a:t>材料：实验报告 </a:t>
            </a:r>
            <a:r>
              <a:rPr lang="en-US" altLang="zh-CN" sz="1150">
                <a:solidFill>
                  <a:srgbClr val="A0AFC8"/>
                </a:solidFill>
                <a:latin typeface="微软雅黑" panose="020B0503020204020204" pitchFamily="34" charset="-122"/>
              </a:rPr>
              <a:t>docx</a:t>
            </a:r>
            <a:r>
              <a:rPr lang="zh-CN" altLang="en-US" sz="1150">
                <a:solidFill>
                  <a:srgbClr val="A0AFC8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A0AFC8"/>
                </a:solidFill>
                <a:latin typeface="微软雅黑" panose="020B0503020204020204" pitchFamily="34" charset="-122"/>
              </a:rPr>
              <a:t>25 </a:t>
            </a:r>
            <a:r>
              <a:rPr lang="zh-CN" altLang="en-US" sz="1150">
                <a:solidFill>
                  <a:srgbClr val="A0AFC8"/>
                </a:solidFill>
                <a:latin typeface="微软雅黑" panose="020B0503020204020204" pitchFamily="34" charset="-122"/>
              </a:rPr>
              <a:t>图 </a:t>
            </a:r>
            <a:r>
              <a:rPr lang="en-US" altLang="zh-CN" sz="1150">
                <a:solidFill>
                  <a:srgbClr val="A0AFC8"/>
                </a:solidFill>
                <a:latin typeface="微软雅黑" panose="020B0503020204020204" pitchFamily="34" charset="-122"/>
              </a:rPr>
              <a:t>/ 10 </a:t>
            </a:r>
            <a:r>
              <a:rPr lang="zh-CN" altLang="en-US" sz="1150">
                <a:solidFill>
                  <a:srgbClr val="A0AFC8"/>
                </a:solidFill>
                <a:latin typeface="微软雅黑" panose="020B0503020204020204" pitchFamily="34" charset="-122"/>
              </a:rPr>
              <a:t>表）</a:t>
            </a:r>
            <a:r>
              <a:rPr lang="en-US" altLang="zh-CN" sz="1150">
                <a:solidFill>
                  <a:srgbClr val="A0AFC8"/>
                </a:solidFill>
                <a:latin typeface="微软雅黑" panose="020B0503020204020204" pitchFamily="34" charset="-122"/>
              </a:rPr>
              <a:t>· docs/acceptance </a:t>
            </a:r>
            <a:r>
              <a:rPr lang="zh-CN" altLang="en-US" sz="1150">
                <a:solidFill>
                  <a:srgbClr val="A0AFC8"/>
                </a:solidFill>
                <a:latin typeface="微软雅黑" panose="020B0503020204020204" pitchFamily="34" charset="-122"/>
              </a:rPr>
              <a:t>门禁报告 </a:t>
            </a:r>
            <a:r>
              <a:rPr lang="en-US" altLang="zh-CN" sz="1150">
                <a:solidFill>
                  <a:srgbClr val="A0AFC8"/>
                </a:solidFill>
                <a:latin typeface="微软雅黑" panose="020B0503020204020204" pitchFamily="34" charset="-122"/>
              </a:rPr>
              <a:t>· data/demo_shots </a:t>
            </a:r>
            <a:r>
              <a:rPr lang="zh-CN" altLang="en-US" sz="1150">
                <a:solidFill>
                  <a:srgbClr val="A0AFC8"/>
                </a:solidFill>
                <a:latin typeface="微软雅黑" panose="020B0503020204020204" pitchFamily="34" charset="-122"/>
              </a:rPr>
              <a:t>运行截图 </a:t>
            </a:r>
            <a:r>
              <a:rPr lang="en-US" altLang="zh-CN" sz="1150">
                <a:solidFill>
                  <a:srgbClr val="A0AFC8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150">
                <a:solidFill>
                  <a:srgbClr val="A0AFC8"/>
                </a:solidFill>
                <a:latin typeface="微软雅黑" panose="020B0503020204020204" pitchFamily="34" charset="-122"/>
              </a:rPr>
              <a:t>附录 </a:t>
            </a:r>
            <a:r>
              <a:rPr lang="en-US" altLang="zh-CN" sz="1150">
                <a:solidFill>
                  <a:srgbClr val="A0AFC8"/>
                </a:solidFill>
                <a:latin typeface="微软雅黑" panose="020B0503020204020204" pitchFamily="34" charset="-122"/>
              </a:rPr>
              <a:t>A1-A10 </a:t>
            </a:r>
            <a:r>
              <a:rPr lang="zh-CN" altLang="en-US" sz="1150">
                <a:solidFill>
                  <a:srgbClr val="A0AFC8"/>
                </a:solidFill>
                <a:latin typeface="微软雅黑" panose="020B0503020204020204" pitchFamily="34" charset="-122"/>
              </a:rPr>
              <a:t>演示与复现细节</a:t>
            </a:r>
          </a:p>
        </p:txBody>
      </p:sp>
    </p:spTree>
    <p:extLst>
      <p:ext uri="{BB962C8B-B14F-4D97-AF65-F5344CB8AC3E}">
        <p14:creationId xmlns:p14="http://schemas.microsoft.com/office/powerpoint/2010/main" val="1671559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2F4464-ABAE-BC53-5F3F-88DB4C4F42E2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09F705-E8E0-B09A-725F-949476710DE8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7AA494-9A1A-40BD-1138-A322242CA1D0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附录 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演示细节与复现环境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0E09CB-16DA-5F29-0E9F-8249DFE23AF2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12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2DD8F9-ACA3-CE3E-BBF5-AD5EF2C42ADB}"/>
              </a:ext>
            </a:extLst>
          </p:cNvPr>
          <p:cNvSpPr txBox="1"/>
          <p:nvPr/>
        </p:nvSpPr>
        <p:spPr>
          <a:xfrm>
            <a:off x="431800" y="1117600"/>
            <a:ext cx="8280400" cy="1833835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A1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演示一 大屏与数据链     　　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A2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演示二 车牌识别与违法取证</a:t>
            </a:r>
          </a:p>
          <a:p>
            <a:pPr>
              <a:spcAft>
                <a:spcPts val="700"/>
              </a:spcAft>
            </a:pP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A3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演示三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Flink SQL + CEP 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　　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A4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演示四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CrewAI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三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Agent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处置</a:t>
            </a:r>
          </a:p>
          <a:p>
            <a:pPr>
              <a:spcAft>
                <a:spcPts val="700"/>
              </a:spcAft>
            </a:pP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A5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演示五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vLLM +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集成链路  　　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A6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质量门禁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16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项与两个解释器</a:t>
            </a:r>
          </a:p>
          <a:p>
            <a:pPr>
              <a:spcAft>
                <a:spcPts val="700"/>
              </a:spcAft>
            </a:pP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A7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追问预案六个问题        　　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A8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启动顺序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端口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网址</a:t>
            </a:r>
          </a:p>
          <a:p>
            <a:pPr>
              <a:spcAft>
                <a:spcPts val="700"/>
              </a:spcAft>
            </a:pP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A9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关键环境变量与两个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Python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环境</a:t>
            </a:r>
          </a:p>
          <a:p>
            <a:pPr>
              <a:spcAft>
                <a:spcPts val="700"/>
              </a:spcAft>
            </a:pP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A10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答辩前 </a:t>
            </a:r>
            <a:r>
              <a:rPr lang="en-US" altLang="zh-CN" sz="1400">
                <a:solidFill>
                  <a:srgbClr val="2D2D2D"/>
                </a:solidFill>
                <a:latin typeface="微软雅黑" panose="020B0503020204020204" pitchFamily="34" charset="-122"/>
              </a:rPr>
              <a:t>30 </a:t>
            </a:r>
            <a:r>
              <a:rPr lang="zh-CN" altLang="en-US" sz="1400">
                <a:solidFill>
                  <a:srgbClr val="2D2D2D"/>
                </a:solidFill>
                <a:latin typeface="微软雅黑" panose="020B0503020204020204" pitchFamily="34" charset="-122"/>
              </a:rPr>
              <a:t>分钟自检</a:t>
            </a:r>
          </a:p>
        </p:txBody>
      </p:sp>
    </p:spTree>
    <p:extLst>
      <p:ext uri="{BB962C8B-B14F-4D97-AF65-F5344CB8AC3E}">
        <p14:creationId xmlns:p14="http://schemas.microsoft.com/office/powerpoint/2010/main" val="2743153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F74C47B-A9FD-FF53-7625-89F73F2EE109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370F26-F928-B0EE-2C23-E3D78C400AFF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E7B631-20A8-1500-046B-E7438FA7B27F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A1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演示一：大屏与数据链（广州天河）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92F4BB-FF76-5CCC-06D4-B640250517A7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13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6419A5-9132-6181-4D7E-0688C2D99BC3}"/>
              </a:ext>
            </a:extLst>
          </p:cNvPr>
          <p:cNvSpPr/>
          <p:nvPr/>
        </p:nvSpPr>
        <p:spPr>
          <a:xfrm>
            <a:off x="431800" y="838200"/>
            <a:ext cx="8280400" cy="558800"/>
          </a:xfrm>
          <a:prstGeom prst="rect">
            <a:avLst/>
          </a:prstGeom>
          <a:solidFill>
            <a:srgbClr val="1C22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tlCol="0" anchor="ctr"/>
          <a:lstStyle/>
          <a:p>
            <a:pPr algn="ctr"/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docker compose up -d</a:t>
            </a:r>
          </a:p>
          <a:p>
            <a:pPr algn="ctr"/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python -m backend.dashboard_api          streamlit run dashboard/app.py</a:t>
            </a:r>
            <a:endParaRPr lang="zh-CN" altLang="en-US" sz="105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4D29D8-46D6-0060-868B-DE8764140BC2}"/>
              </a:ext>
            </a:extLst>
          </p:cNvPr>
          <p:cNvSpPr txBox="1"/>
          <p:nvPr/>
        </p:nvSpPr>
        <p:spPr>
          <a:xfrm>
            <a:off x="431800" y="1473200"/>
            <a:ext cx="254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 b="1">
                <a:solidFill>
                  <a:srgbClr val="1F3864"/>
                </a:solidFill>
                <a:latin typeface="微软雅黑" panose="020B0503020204020204" pitchFamily="34" charset="-122"/>
              </a:rPr>
              <a:t>现场看什么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71A669-282F-BE31-96FD-1277BAA07C94}"/>
              </a:ext>
            </a:extLst>
          </p:cNvPr>
          <p:cNvSpPr txBox="1"/>
          <p:nvPr/>
        </p:nvSpPr>
        <p:spPr>
          <a:xfrm>
            <a:off x="431800" y="1727200"/>
            <a:ext cx="8280400" cy="84895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KPI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（累计流量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实时车流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高峰路口）、时段趋势、车型分布环图、高德图层上的卡口点位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数据状态栏直接打印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FastAPI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或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local-csv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；同时开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/docs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看分组路由，现场发一次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/predict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看响应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JSON</a:t>
            </a:r>
          </a:p>
          <a:p>
            <a:pPr>
              <a:spcAft>
                <a:spcPts val="700"/>
              </a:spcAft>
            </a:pP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大屏五页：总览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助手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 RAG /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视频解说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车路云诱导与取证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75793F-5941-F20E-E643-E6CA7C2FEDD5}"/>
              </a:ext>
            </a:extLst>
          </p:cNvPr>
          <p:cNvSpPr txBox="1"/>
          <p:nvPr/>
        </p:nvSpPr>
        <p:spPr>
          <a:xfrm>
            <a:off x="431800" y="3784600"/>
            <a:ext cx="82804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口径：卡口名是天河地名、数值来自公开研究数据（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KDD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类）。这一页证明的是链路渲染与来源标注正确，不代表天河现场采集；回到原始坐标设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DASHBOARD_MAP_AREA=source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85092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38CA5EC-27DA-4A91-F9E0-066F9CC5D22C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DA541B-2B3B-A360-C1A7-BE8A975B90E1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12798F-1A0C-6062-4EFD-ABB0BAC9CA82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A2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演示二：车牌识别与违法取证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3D29AC-CE23-39B1-3C1F-253BE5B4B376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14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8E5F7A-688C-38E2-5136-02CFAD4C926E}"/>
              </a:ext>
            </a:extLst>
          </p:cNvPr>
          <p:cNvSpPr/>
          <p:nvPr/>
        </p:nvSpPr>
        <p:spPr>
          <a:xfrm>
            <a:off x="431800" y="838200"/>
            <a:ext cx="8280400" cy="762000"/>
          </a:xfrm>
          <a:prstGeom prst="rect">
            <a:avLst/>
          </a:prstGeom>
          <a:solidFill>
            <a:srgbClr val="1C22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tlCol="0" anchor="ctr"/>
          <a:lstStyle/>
          <a:p>
            <a:pPr algn="ctr"/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python main.py data\vision\traffic_demo_60s.mp4 --max-frames 400 --recognition-mode all --headless</a:t>
            </a:r>
          </a:p>
          <a:p>
            <a:pPr algn="ctr"/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curl -X POST http://127.0.0.1:8000/api/v1/vision/plate -F file=@data\violations\</a:t>
            </a:r>
            <a:r>
              <a:rPr lang="zh-CN" altLang="en-US" sz="1050">
                <a:solidFill>
                  <a:srgbClr val="E2E8F0"/>
                </a:solidFill>
                <a:latin typeface="Consolas" panose="020B0609020204030204" pitchFamily="49" charset="0"/>
              </a:rPr>
              <a:t>压线违章</a:t>
            </a:r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_</a:t>
            </a:r>
            <a:r>
              <a:rPr lang="zh-CN" altLang="en-US" sz="1050">
                <a:solidFill>
                  <a:srgbClr val="E2E8F0"/>
                </a:solidFill>
                <a:latin typeface="Consolas" panose="020B0609020204030204" pitchFamily="49" charset="0"/>
              </a:rPr>
              <a:t>浙</a:t>
            </a:r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B3S65J_20260921_230524.jpg</a:t>
            </a:r>
            <a:endParaRPr lang="zh-CN" altLang="en-US" sz="105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FDF238-7468-234C-BCB4-6C1D349B319D}"/>
              </a:ext>
            </a:extLst>
          </p:cNvPr>
          <p:cNvSpPr txBox="1"/>
          <p:nvPr/>
        </p:nvSpPr>
        <p:spPr>
          <a:xfrm>
            <a:off x="431800" y="1676400"/>
            <a:ext cx="254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 b="1">
                <a:solidFill>
                  <a:srgbClr val="1F3864"/>
                </a:solidFill>
                <a:latin typeface="微软雅黑" panose="020B0503020204020204" pitchFamily="34" charset="-122"/>
              </a:rPr>
              <a:t>现场看什么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C888A9-97D1-6559-383F-0FB07E0F74E4}"/>
              </a:ext>
            </a:extLst>
          </p:cNvPr>
          <p:cNvSpPr txBox="1"/>
          <p:nvPr/>
        </p:nvSpPr>
        <p:spPr>
          <a:xfrm>
            <a:off x="431800" y="1930400"/>
            <a:ext cx="8280400" cy="1041311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先打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/api/v1/vision/plate/health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看就绪状态；视觉栈在另一个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Python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环境（系统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Python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，带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ultralytics / paddle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）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检测框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车牌二级裁剪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+ OCR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文本与置信度；违章抓拍图落盘，大屏「车牌取证」页签可读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服务未就绪时展示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503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降级页，而不是硬跑一次崩溃给老师看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309848-98CC-4523-D03C-362E4ED5FEF0}"/>
              </a:ext>
            </a:extLst>
          </p:cNvPr>
          <p:cNvSpPr txBox="1"/>
          <p:nvPr/>
        </p:nvSpPr>
        <p:spPr>
          <a:xfrm>
            <a:off x="431800" y="3784600"/>
            <a:ext cx="82804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口径：识别文本未经人工真值核对，置信度不能当整牌准确率 → 整牌准确率与车辆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mAP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保持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BLOCKED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（缺真值集），已备好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KITTI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复算路线。</a:t>
            </a:r>
          </a:p>
        </p:txBody>
      </p:sp>
    </p:spTree>
    <p:extLst>
      <p:ext uri="{BB962C8B-B14F-4D97-AF65-F5344CB8AC3E}">
        <p14:creationId xmlns:p14="http://schemas.microsoft.com/office/powerpoint/2010/main" val="130448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F90CC67-35FE-A004-90A5-C20E544DEF0C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CD7845-1E30-FAAA-711C-ABC3E8A32B54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ED3773-88A7-A0FE-B12C-BC56E69D0AC6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A3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演示三：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Flink SQL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实时统计与 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CEP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四级预警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DEAEB9-C74D-1107-7182-C486D1B2D5ED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15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CDB840-8FA4-F1BB-8DE2-931EB251A8EB}"/>
              </a:ext>
            </a:extLst>
          </p:cNvPr>
          <p:cNvSpPr/>
          <p:nvPr/>
        </p:nvSpPr>
        <p:spPr>
          <a:xfrm>
            <a:off x="431800" y="838200"/>
            <a:ext cx="8280400" cy="558800"/>
          </a:xfrm>
          <a:prstGeom prst="rect">
            <a:avLst/>
          </a:prstGeom>
          <a:solidFill>
            <a:srgbClr val="1C22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tlCol="0" anchor="ctr"/>
          <a:lstStyle/>
          <a:p>
            <a:pPr algn="ctr"/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docker compose --profile flink up -d</a:t>
            </a:r>
          </a:p>
          <a:p>
            <a:pPr algn="ctr"/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bash backend/flink/submit.sh                    http://127.0.0.1:8181</a:t>
            </a:r>
            <a:endParaRPr lang="zh-CN" altLang="en-US" sz="105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FDC704-1C08-13FF-CC98-1C94B34DD791}"/>
              </a:ext>
            </a:extLst>
          </p:cNvPr>
          <p:cNvSpPr txBox="1"/>
          <p:nvPr/>
        </p:nvSpPr>
        <p:spPr>
          <a:xfrm>
            <a:off x="431800" y="1473200"/>
            <a:ext cx="254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 b="1">
                <a:solidFill>
                  <a:srgbClr val="1F3864"/>
                </a:solidFill>
                <a:latin typeface="微软雅黑" panose="020B0503020204020204" pitchFamily="34" charset="-122"/>
              </a:rPr>
              <a:t>现场看什么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E18AF0-C35F-BF29-8F7C-86FA66A0D8D4}"/>
              </a:ext>
            </a:extLst>
          </p:cNvPr>
          <p:cNvSpPr txBox="1"/>
          <p:nvPr/>
        </p:nvSpPr>
        <p:spPr>
          <a:xfrm>
            <a:off x="431800" y="1727200"/>
            <a:ext cx="8280400" cy="1041311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▪ Web UI Overview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1 TaskManager / 4 slots / 2 running jobs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；两个作业的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Checkpoints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页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39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完成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0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失败、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EXACTLY_ONCE</a:t>
            </a:r>
          </a:p>
          <a:p>
            <a:pPr>
              <a:spcAft>
                <a:spcPts val="700"/>
              </a:spcAft>
            </a:pP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库侧核对：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select alert_level, count(*) from traffic_alerts group by 1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speed_stats 13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行为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1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分钟滑动窗口结果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83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项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SQL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静态校验在提交前跑，连接器参数与语法错在提交前就被拦下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388455-7AD6-EAE1-39EB-EA1E2A7031FE}"/>
              </a:ext>
            </a:extLst>
          </p:cNvPr>
          <p:cNvSpPr txBox="1"/>
          <p:nvPr/>
        </p:nvSpPr>
        <p:spPr>
          <a:xfrm>
            <a:off x="431800" y="3784600"/>
            <a:ext cx="82804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口径：事件源是灌入的模拟流（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89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条）；闭合条件必须显式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END_SLOW / END_CRIT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，未闭合段不落表；绿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黄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红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紫降级规则在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alert_consumer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侧实现。</a:t>
            </a:r>
          </a:p>
        </p:txBody>
      </p:sp>
    </p:spTree>
    <p:extLst>
      <p:ext uri="{BB962C8B-B14F-4D97-AF65-F5344CB8AC3E}">
        <p14:creationId xmlns:p14="http://schemas.microsoft.com/office/powerpoint/2010/main" val="3873492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D05610C-CC31-0B9D-65C2-74285555D62E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6C8DD6-8C27-BA26-6902-501259E975E8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D5DCCA-DF04-49F3-7F71-EBEBC377194D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A4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演示四：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CrewAI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三 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Agent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应急处置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5298DE-2E26-73FE-4FB5-352E72D85520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16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637265-0645-B69E-9BCA-FF54FD69BCC8}"/>
              </a:ext>
            </a:extLst>
          </p:cNvPr>
          <p:cNvSpPr/>
          <p:nvPr/>
        </p:nvSpPr>
        <p:spPr>
          <a:xfrm>
            <a:off x="431800" y="838200"/>
            <a:ext cx="8280400" cy="558800"/>
          </a:xfrm>
          <a:prstGeom prst="rect">
            <a:avLst/>
          </a:prstGeom>
          <a:solidFill>
            <a:srgbClr val="1C22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tlCol="0" anchor="ctr"/>
          <a:lstStyle/>
          <a:p>
            <a:pPr algn="ctr"/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python backend/scripts/crew_smoke.py                 # Mock </a:t>
            </a:r>
            <a:r>
              <a:rPr lang="zh-CN" altLang="en-US" sz="1050">
                <a:solidFill>
                  <a:srgbClr val="E2E8F0"/>
                </a:solidFill>
                <a:latin typeface="Consolas" panose="020B0609020204030204" pitchFamily="49" charset="0"/>
              </a:rPr>
              <a:t>端点，无密钥也必成
</a:t>
            </a:r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python backend/scripts/crew_smoke.py --live                # </a:t>
            </a:r>
            <a:r>
              <a:rPr lang="zh-CN" altLang="en-US" sz="1050">
                <a:solidFill>
                  <a:srgbClr val="E2E8F0"/>
                </a:solidFill>
                <a:latin typeface="Consolas" panose="020B0609020204030204" pitchFamily="49" charset="0"/>
              </a:rPr>
              <a:t>真实模型，需 </a:t>
            </a:r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.env </a:t>
            </a:r>
            <a:r>
              <a:rPr lang="zh-CN" altLang="en-US" sz="1050">
                <a:solidFill>
                  <a:srgbClr val="E2E8F0"/>
                </a:solidFill>
                <a:latin typeface="Consolas" panose="020B0609020204030204" pitchFamily="49" charset="0"/>
              </a:rPr>
              <a:t>中的 </a:t>
            </a:r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Key</a:t>
            </a:r>
            <a:endParaRPr lang="zh-CN" altLang="en-US" sz="105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56AABB-1BB7-C260-073C-154DF8076895}"/>
              </a:ext>
            </a:extLst>
          </p:cNvPr>
          <p:cNvSpPr txBox="1"/>
          <p:nvPr/>
        </p:nvSpPr>
        <p:spPr>
          <a:xfrm>
            <a:off x="431800" y="1473200"/>
            <a:ext cx="254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 b="1">
                <a:solidFill>
                  <a:srgbClr val="1F3864"/>
                </a:solidFill>
                <a:latin typeface="微软雅黑" panose="020B0503020204020204" pitchFamily="34" charset="-122"/>
              </a:rPr>
              <a:t>现场看什么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8AA2D8-B56D-8116-BC66-F151CE5587AF}"/>
              </a:ext>
            </a:extLst>
          </p:cNvPr>
          <p:cNvSpPr txBox="1"/>
          <p:nvPr/>
        </p:nvSpPr>
        <p:spPr>
          <a:xfrm>
            <a:off x="431800" y="1727200"/>
            <a:ext cx="8280400" cy="1041311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478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行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verbose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协作日志（默认开启，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--quiet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关闭）：分析师 → 指挥官 → 调度员，工具调用顺序可见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落盘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data/crew/crew_runs.jsonl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运行级审计（当前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17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行）与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notices.jsonl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公众通告（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14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行）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9/21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真实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qwen-plus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跑通的区分证据：通告正文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125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字由模型撰写，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Mock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模板固定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40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字，长度差本身就是可核对的区分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D8F305-F950-FC4D-7FE5-915FB8AFD781}"/>
              </a:ext>
            </a:extLst>
          </p:cNvPr>
          <p:cNvSpPr txBox="1"/>
          <p:nvPr/>
        </p:nvSpPr>
        <p:spPr>
          <a:xfrm>
            <a:off x="431800" y="3784600"/>
            <a:ext cx="82804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口径：通告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channel_mode=local_file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delivered=false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（未接真实发布通道）；无高德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Web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服务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Key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时路线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source=demonstration_topology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verified=false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；框架长期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memory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刻意关闭，任务上下文一律显式传递。</a:t>
            </a:r>
          </a:p>
        </p:txBody>
      </p:sp>
    </p:spTree>
    <p:extLst>
      <p:ext uri="{BB962C8B-B14F-4D97-AF65-F5344CB8AC3E}">
        <p14:creationId xmlns:p14="http://schemas.microsoft.com/office/powerpoint/2010/main" val="106374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4C6D0B-0E66-10F6-E0FD-8E9CA3D349C8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C54EE7-1FD7-A19E-7FA0-6E5A9A39F623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ED7393-3ADE-F0A9-13B4-A6876C020C88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A5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演示五：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vLLM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服务化 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五段集成链路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A451B0-21B5-DCA7-BDD6-BA6893625F91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17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463248-F8C1-02F0-534D-1B2458BBCE0E}"/>
              </a:ext>
            </a:extLst>
          </p:cNvPr>
          <p:cNvSpPr/>
          <p:nvPr/>
        </p:nvSpPr>
        <p:spPr>
          <a:xfrm>
            <a:off x="431800" y="838200"/>
            <a:ext cx="8280400" cy="762000"/>
          </a:xfrm>
          <a:prstGeom prst="rect">
            <a:avLst/>
          </a:prstGeom>
          <a:solidFill>
            <a:srgbClr val="1C22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tlCol="0" anchor="ctr"/>
          <a:lstStyle/>
          <a:p>
            <a:pPr algn="ctr"/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MSYS_NO_PATHCONV=1 docker run -d --gpus all -p 8001:8001 -v &lt;</a:t>
            </a:r>
            <a:r>
              <a:rPr lang="zh-CN" altLang="en-US" sz="1050">
                <a:solidFill>
                  <a:srgbClr val="E2E8F0"/>
                </a:solidFill>
                <a:latin typeface="Consolas" panose="020B0609020204030204" pitchFamily="49" charset="0"/>
              </a:rPr>
              <a:t>权重目录</a:t>
            </a:r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&gt;:/models:ro &lt;</a:t>
            </a:r>
            <a:r>
              <a:rPr lang="zh-CN" altLang="en-US" sz="1050">
                <a:solidFill>
                  <a:srgbClr val="E2E8F0"/>
                </a:solidFill>
                <a:latin typeface="Consolas" panose="020B0609020204030204" pitchFamily="49" charset="0"/>
              </a:rPr>
              <a:t>镜像</a:t>
            </a:r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&gt; --served-model-name qwen-local-1.5b
TRAFFIC_VLLM_BASE_URL=http://127.0.0.1:8001/v1 TRAFFIC_VLLM_API_KEY= python -m backend.integration.system_integration --json out.json</a:t>
            </a:r>
            <a:endParaRPr lang="zh-CN" altLang="en-US" sz="105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7EF250-505C-F09F-D08D-A4E0F3E1EA05}"/>
              </a:ext>
            </a:extLst>
          </p:cNvPr>
          <p:cNvSpPr txBox="1"/>
          <p:nvPr/>
        </p:nvSpPr>
        <p:spPr>
          <a:xfrm>
            <a:off x="431800" y="1676400"/>
            <a:ext cx="254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 b="1">
                <a:solidFill>
                  <a:srgbClr val="1F3864"/>
                </a:solidFill>
                <a:latin typeface="微软雅黑" panose="020B0503020204020204" pitchFamily="34" charset="-122"/>
              </a:rPr>
              <a:t>现场看什么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BF0910-E66D-CF4B-AAA1-8F0AA15C5575}"/>
              </a:ext>
            </a:extLst>
          </p:cNvPr>
          <p:cNvSpPr txBox="1"/>
          <p:nvPr/>
        </p:nvSpPr>
        <p:spPr>
          <a:xfrm>
            <a:off x="431800" y="1930400"/>
            <a:ext cx="8280400" cy="84895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▪ curl http://127.0.0.1:8001/v1/models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返回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200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/metrics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抓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TTFT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、端到端耗时与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token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计数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五段链路：实时窗口 → 预测 → 大模型分析 →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Agent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方案 → 推送大屏，逐段打印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ok / degraded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detail.source</a:t>
            </a:r>
          </a:p>
          <a:p>
            <a:pPr>
              <a:spcAft>
                <a:spcPts val="700"/>
              </a:spcAft>
            </a:pP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末段看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data/integration/screen_push.jsonl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与大屏轮询接口是否接上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9285D8-CDA7-8945-5E0B-F3813137134A}"/>
              </a:ext>
            </a:extLst>
          </p:cNvPr>
          <p:cNvSpPr txBox="1"/>
          <p:nvPr/>
        </p:nvSpPr>
        <p:spPr>
          <a:xfrm>
            <a:off x="431800" y="3784600"/>
            <a:ext cx="82804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口径：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TRAFFIC_VLLM_API_KEY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必须显式置空，否则端点会回落到云端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Key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；窗口段可读库侧真实结果表（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source=timescaledb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），预测段因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speed_stats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无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checkpoint_id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仍是 </a:t>
            </a:r>
            <a:r>
              <a:rPr lang="en-US" altLang="zh-CN" sz="1150">
                <a:solidFill>
                  <a:srgbClr val="C55A11"/>
                </a:solidFill>
                <a:latin typeface="微软雅黑" panose="020B0503020204020204" pitchFamily="34" charset="-122"/>
              </a:rPr>
              <a:t>degraded —— </a:t>
            </a:r>
            <a:r>
              <a:rPr lang="zh-CN" altLang="en-US" sz="1150">
                <a:solidFill>
                  <a:srgbClr val="C55A11"/>
                </a:solidFill>
                <a:latin typeface="微软雅黑" panose="020B0503020204020204" pitchFamily="34" charset="-122"/>
              </a:rPr>
              <a:t>这是数据契约缺口，不用代码掩盖。</a:t>
            </a:r>
          </a:p>
        </p:txBody>
      </p:sp>
    </p:spTree>
    <p:extLst>
      <p:ext uri="{BB962C8B-B14F-4D97-AF65-F5344CB8AC3E}">
        <p14:creationId xmlns:p14="http://schemas.microsoft.com/office/powerpoint/2010/main" val="2372396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38F6B12-F029-2C1D-5080-AE086781A238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F858FE-A17E-FDCC-F011-FD39F26F2E7D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2E7A52-8507-C858-808D-6466BCF2D400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A6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质量门禁：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16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项检查 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· 303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条测试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170395-0482-4D60-6B76-AB0E664BB3C8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18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B469837-54DB-1159-B932-B658B802B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689183"/>
              </p:ext>
            </p:extLst>
          </p:nvPr>
        </p:nvGraphicFramePr>
        <p:xfrm>
          <a:off x="431800" y="889000"/>
          <a:ext cx="82804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311402954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71766179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3983252495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检查项</a:t>
                      </a:r>
                    </a:p>
                  </a:txBody>
                  <a:tcPr marL="63500" marR="635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结果</a:t>
                      </a:r>
                    </a:p>
                  </a:txBody>
                  <a:tcPr marL="63500" marR="635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63500" marR="63500" marT="25400" marB="254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55276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DOC-001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提交文档与验收附件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PASS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9/22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转）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截图目录接受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screenshots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或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data/demo_shots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，产物形态差异不再判失败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04959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TEST-001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测试依赖齐备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FAIL</a:t>
                      </a:r>
                      <a:endParaRPr lang="zh-CN" altLang="en-US" sz="115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当前解释器缺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ultralytics / matplotlib / onnx ——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换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.venv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结果不同，属环境依赖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75793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TEST-002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覆盖率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FAIL</a:t>
                      </a:r>
                      <a:endParaRPr lang="zh-CN" altLang="en-US" sz="115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28.78%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，门槛未达，如实记录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51925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CODE-002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静态检查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FAIL</a:t>
                      </a:r>
                      <a:endParaRPr lang="zh-CN" altLang="en-US" sz="115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ruff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未安装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26208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其余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12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项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PASS / BLOCKED / NOT_VERIFIED</a:t>
                      </a:r>
                      <a:endParaRPr lang="zh-CN" altLang="en-US" sz="115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BLOCKED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一律是缺真值集或缺外部服务，不是断言失败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70251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85AC1DA-B75F-DA55-9F36-4BBFB1191B10}"/>
              </a:ext>
            </a:extLst>
          </p:cNvPr>
          <p:cNvSpPr txBox="1"/>
          <p:nvPr/>
        </p:nvSpPr>
        <p:spPr>
          <a:xfrm>
            <a:off x="431800" y="2997200"/>
            <a:ext cx="8280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D2D2D"/>
                </a:solidFill>
                <a:latin typeface="微软雅黑" panose="020B0503020204020204" pitchFamily="34" charset="-122"/>
              </a:rPr>
              <a:t>同一份代码、两个解释器，结果不同 </a:t>
            </a:r>
            <a:r>
              <a:rPr lang="en-US" altLang="zh-CN" sz="1200" b="1">
                <a:solidFill>
                  <a:srgbClr val="2D2D2D"/>
                </a:solidFill>
                <a:latin typeface="微软雅黑" panose="020B0503020204020204" pitchFamily="34" charset="-122"/>
              </a:rPr>
              <a:t>—— </a:t>
            </a:r>
            <a:r>
              <a:rPr lang="zh-CN" altLang="en-US" sz="1200" b="1">
                <a:solidFill>
                  <a:srgbClr val="2D2D2D"/>
                </a:solidFill>
                <a:latin typeface="微软雅黑" panose="020B0503020204020204" pitchFamily="34" charset="-122"/>
              </a:rPr>
              <a:t>所以门禁报告按解释器各存一份：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CEDA8E-A49B-46B8-20DE-AF750142E2C9}"/>
              </a:ext>
            </a:extLst>
          </p:cNvPr>
          <p:cNvSpPr txBox="1"/>
          <p:nvPr/>
        </p:nvSpPr>
        <p:spPr>
          <a:xfrm>
            <a:off x="431800" y="3276600"/>
            <a:ext cx="8280400" cy="713016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CN" sz="1150">
                <a:solidFill>
                  <a:srgbClr val="2D2D2D"/>
                </a:solidFill>
                <a:latin typeface="微软雅黑" panose="020B0503020204020204" pitchFamily="34" charset="-122"/>
              </a:rPr>
              <a:t>▪ docs/acceptance/project1_gate_20260922_engineering.md —— </a:t>
            </a:r>
            <a:r>
              <a:rPr lang="zh-CN" altLang="en-US" sz="1150">
                <a:solidFill>
                  <a:srgbClr val="2D2D2D"/>
                </a:solidFill>
                <a:latin typeface="微软雅黑" panose="020B0503020204020204" pitchFamily="34" charset="-122"/>
              </a:rPr>
              <a:t>系统 </a:t>
            </a:r>
            <a:r>
              <a:rPr lang="en-US" altLang="zh-CN" sz="1150">
                <a:solidFill>
                  <a:srgbClr val="2D2D2D"/>
                </a:solidFill>
                <a:latin typeface="微软雅黑" panose="020B0503020204020204" pitchFamily="34" charset="-122"/>
              </a:rPr>
              <a:t>Python</a:t>
            </a:r>
            <a:r>
              <a:rPr lang="zh-CN" altLang="en-US" sz="1150">
                <a:solidFill>
                  <a:srgbClr val="2D2D2D"/>
                </a:solidFill>
                <a:latin typeface="微软雅黑" panose="020B0503020204020204" pitchFamily="34" charset="-122"/>
              </a:rPr>
              <a:t>（有视觉依赖，缺 </a:t>
            </a:r>
            <a:r>
              <a:rPr lang="en-US" altLang="zh-CN" sz="1150">
                <a:solidFill>
                  <a:srgbClr val="2D2D2D"/>
                </a:solidFill>
                <a:latin typeface="微软雅黑" panose="020B0503020204020204" pitchFamily="34" charset="-122"/>
              </a:rPr>
              <a:t>ruff / coverage / onnx</a:t>
            </a:r>
            <a:r>
              <a:rPr lang="zh-CN" altLang="en-US" sz="1150">
                <a:solidFill>
                  <a:srgbClr val="2D2D2D"/>
                </a:solidFill>
                <a:latin typeface="微软雅黑" panose="020B0503020204020204" pitchFamily="34" charset="-122"/>
              </a:rPr>
              <a:t>）</a:t>
            </a:r>
          </a:p>
          <a:p>
            <a:pPr>
              <a:spcAft>
                <a:spcPts val="700"/>
              </a:spcAft>
            </a:pPr>
            <a:r>
              <a:rPr lang="zh-CN" altLang="en-US" sz="115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en-US" altLang="zh-CN" sz="1150">
                <a:solidFill>
                  <a:srgbClr val="2D2D2D"/>
                </a:solidFill>
                <a:latin typeface="微软雅黑" panose="020B0503020204020204" pitchFamily="34" charset="-122"/>
              </a:rPr>
              <a:t>docs/acceptance/project1_gate_20260922_venv.md —— intel-transportation/.venv</a:t>
            </a:r>
            <a:r>
              <a:rPr lang="zh-CN" altLang="en-US" sz="1150">
                <a:solidFill>
                  <a:srgbClr val="2D2D2D"/>
                </a:solidFill>
                <a:latin typeface="微软雅黑" panose="020B0503020204020204" pitchFamily="34" charset="-122"/>
              </a:rPr>
              <a:t>（有 </a:t>
            </a:r>
            <a:r>
              <a:rPr lang="en-US" altLang="zh-CN" sz="1150">
                <a:solidFill>
                  <a:srgbClr val="2D2D2D"/>
                </a:solidFill>
                <a:latin typeface="微软雅黑" panose="020B0503020204020204" pitchFamily="34" charset="-122"/>
              </a:rPr>
              <a:t>crewai / psycopg2</a:t>
            </a:r>
            <a:r>
              <a:rPr lang="zh-CN" altLang="en-US" sz="1150">
                <a:solidFill>
                  <a:srgbClr val="2D2D2D"/>
                </a:solidFill>
                <a:latin typeface="微软雅黑" panose="020B0503020204020204" pitchFamily="34" charset="-122"/>
              </a:rPr>
              <a:t>，缺 </a:t>
            </a:r>
            <a:r>
              <a:rPr lang="en-US" altLang="zh-CN" sz="1150">
                <a:solidFill>
                  <a:srgbClr val="2D2D2D"/>
                </a:solidFill>
                <a:latin typeface="微软雅黑" panose="020B0503020204020204" pitchFamily="34" charset="-122"/>
              </a:rPr>
              <a:t>ultralytics</a:t>
            </a:r>
            <a:r>
              <a:rPr lang="zh-CN" altLang="en-US" sz="1150">
                <a:solidFill>
                  <a:srgbClr val="2D2D2D"/>
                </a:solidFill>
                <a:latin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673443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C030570-7DB9-26CC-C6C6-400D7908C82E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86171-65E6-3409-A3A7-9B17A9FDB436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792458-FDFE-893A-1B02-3009098AC1B3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A7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追问预案：老师大概会问的六个问题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4942FE-D2A7-93A1-67A1-A25A1A64C9E6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19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F4E45CA-FC47-9BD0-181D-5AAB43137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856859"/>
              </p:ext>
            </p:extLst>
          </p:nvPr>
        </p:nvGraphicFramePr>
        <p:xfrm>
          <a:off x="431800" y="889000"/>
          <a:ext cx="82804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97928500"/>
                    </a:ext>
                  </a:extLst>
                </a:gridCol>
                <a:gridCol w="6375400">
                  <a:extLst>
                    <a:ext uri="{9D8B030D-6E8A-4147-A177-3AD203B41FA5}">
                      <a16:colId xmlns:a16="http://schemas.microsoft.com/office/drawing/2014/main" val="100687858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可能被问</a:t>
                      </a:r>
                    </a:p>
                  </a:txBody>
                  <a:tcPr marL="63500" marR="635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我的答法</a:t>
                      </a:r>
                    </a:p>
                  </a:txBody>
                  <a:tcPr marL="63500" marR="63500" marT="25400" marB="254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29582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这些数据是真的吗？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分三档：现场实跑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标注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simulation=true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的演示数据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/ BLOCKED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未验证。大屏与接口响应里就打印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source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与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verified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，不是我口头分类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39511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MAE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没达标为什么还用这个模型？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R²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与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MAE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是两个维度；达标线来自课件验收表，未达就记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FAIL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并给基线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10.526 vs 9.8123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，不换口径凑数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30672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为什么用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1.5B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不用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7B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？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8 GB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显存装不下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7B FP16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；换小模型并注明两者不能互为代表，不把云端调用冒充本地推理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4951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天河路况是真实现场吗？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地名与坐标是演示化，真实路况需高德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JS Key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；未配置时一律显示演示拓扑，不虚标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06258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和课件示例差在哪？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课件的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1.2 s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QPS 62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mAP 0.92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、覆盖率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85%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是示例数字；我只引用被文件或日志证实的值，未实现项在报告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4.2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逐行列出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6798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覆盖率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28% 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算合格吗？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不合格，门禁该项就是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FAIL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。补测优先级写在 </a:t>
                      </a:r>
                      <a:r>
                        <a:rPr lang="en-US" altLang="zh-CN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4.3</a:t>
                      </a:r>
                      <a:r>
                        <a:rPr lang="zh-CN" altLang="en-US" sz="115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：先补预测与集成的边界，再谈整体抬升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83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239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F4DC73-B6B2-3551-CAA8-1B33006D9FA9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3F68F8-24BE-98E2-B81E-23A1167A8DA7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613465-710D-8B2A-017B-5B8E883851DC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A8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复现环境：启动顺序 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端口 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网址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167791-46C7-2CFD-569B-13B08B753E8E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20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82A818C-C48C-83DA-D357-8621DB20D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139909"/>
              </p:ext>
            </p:extLst>
          </p:nvPr>
        </p:nvGraphicFramePr>
        <p:xfrm>
          <a:off x="431800" y="889000"/>
          <a:ext cx="82804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953112576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1881876071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220076818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步</a:t>
                      </a:r>
                    </a:p>
                  </a:txBody>
                  <a:tcPr marL="63500" marR="63500" marT="25400" marB="25400">
                    <a:solidFill>
                      <a:srgbClr val="2C5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命令</a:t>
                      </a:r>
                    </a:p>
                  </a:txBody>
                  <a:tcPr marL="63500" marR="63500" marT="25400" marB="25400">
                    <a:solidFill>
                      <a:srgbClr val="2C5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地址 </a:t>
                      </a:r>
                      <a:r>
                        <a:rPr lang="en-US" altLang="zh-CN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端口</a:t>
                      </a:r>
                    </a:p>
                  </a:txBody>
                  <a:tcPr marL="63500" marR="63500" marT="25400" marB="25400">
                    <a:solidFill>
                      <a:srgbClr val="2C5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80861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启动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Docker Desktop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cp .env.example .env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（密钥只进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.env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—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67826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docker compose up -d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timescaledb 127.0.0.1:55432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（不是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5432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）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· kafka localhost:9092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18671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2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docker compose --profile flink up -d → bash backend/flink/submit.sh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Flink Web UI 127.0.0.1:8181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87015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python -m backend.dashboard_api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127.0.0.1:8000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（占用则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--port 8010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并同步设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DASHBOARD_API_URL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）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· Swagger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在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/docs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62066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streamlit run dashboard/app.py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127.0.0.1:8501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（大屏五页）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0181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可选：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vLLM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容器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·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视觉独立服务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api_server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127.0.0.1:8001/v1 </a:t>
                      </a:r>
                      <a:r>
                        <a:rPr lang="zh-CN" altLang="pt-BR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与 </a:t>
                      </a:r>
                      <a:r>
                        <a:rPr lang="pt-BR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/metrics · 127.0.0.1:8600/docs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32668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6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python -m acceptance.run --profile full --markdown-output docs/acceptance/gate.md</a:t>
                      </a:r>
                      <a:endParaRPr lang="zh-CN" altLang="en-US" sz="11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产出 </a:t>
                      </a:r>
                      <a:r>
                        <a:rPr lang="en-US" altLang="zh-CN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md + json </a:t>
                      </a:r>
                      <a:r>
                        <a:rPr lang="zh-CN" altLang="en-US" sz="11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</a:rPr>
                        <a:t>门禁报告</a:t>
                      </a:r>
                    </a:p>
                  </a:txBody>
                  <a:tcPr marL="63500" marR="63500" marT="25400" marB="254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592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867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7CD07D-D029-17E6-598E-FA3D7F9E9746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64805D-53DC-5811-50EA-D665CF42D8B0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B83D95-C9FD-8088-24B3-A79DA98811AB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A9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关键环境变量 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两个 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Python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环境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26583D-0F17-62EE-D52E-11CB260C9F65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21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B5E2E3-A6E9-61E5-455F-D47941EEA23D}"/>
              </a:ext>
            </a:extLst>
          </p:cNvPr>
          <p:cNvSpPr txBox="1"/>
          <p:nvPr/>
        </p:nvSpPr>
        <p:spPr>
          <a:xfrm>
            <a:off x="431800" y="889000"/>
            <a:ext cx="8280400" cy="2375009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开关：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TRAFFIC_AGENT_ENABLED / TRAFFIC_VISION_ENABLED / TRAFFIC_CREW_ENABLED=true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TRAFFIC_CREW_VERBOSE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默认开启，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--quiet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关闭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模型端点：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TRAFFIC_CREW_LLM_BASE_URL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TRAFFIC_CREW_LLM_MODEL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；集成链路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TRAFFIC_VLLM_BASE_URL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TRAFFIC_VLLM_API_KEY=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（必须显式置空，否则回落云端）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数据源：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TIMESCALEDB_DSN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用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libpq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键值形式，端口是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compose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映射出来的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55432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DASHBOARD_MAP_AREA=source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可回到原始坐标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两个解释器不要混用：视觉链路用系统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Python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ultralytics / paddle / torch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），后端与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CrewAI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用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intel-transportation/.venv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crewai / psycopg2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）</a:t>
            </a:r>
          </a:p>
          <a:p>
            <a:pPr>
              <a:spcAft>
                <a:spcPts val="700"/>
              </a:spcAft>
            </a:pP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▪ 密钥：只用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getpass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助手交互写入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.env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，不进聊天、不进终端历史、不进仓库；答辩机若无网络，提前把 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vLLM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镜像与权重、</a:t>
            </a:r>
            <a:r>
              <a:rPr lang="en-US" altLang="zh-CN" sz="1250">
                <a:solidFill>
                  <a:srgbClr val="2D2D2D"/>
                </a:solidFill>
                <a:latin typeface="微软雅黑" panose="020B0503020204020204" pitchFamily="34" charset="-122"/>
              </a:rPr>
              <a:t>Kafka </a:t>
            </a:r>
            <a:r>
              <a:rPr lang="zh-CN" altLang="en-US" sz="1250">
                <a:solidFill>
                  <a:srgbClr val="2D2D2D"/>
                </a:solidFill>
                <a:latin typeface="微软雅黑" panose="020B0503020204020204" pitchFamily="34" charset="-122"/>
              </a:rPr>
              <a:t>镜像拉好</a:t>
            </a:r>
          </a:p>
        </p:txBody>
      </p:sp>
    </p:spTree>
    <p:extLst>
      <p:ext uri="{BB962C8B-B14F-4D97-AF65-F5344CB8AC3E}">
        <p14:creationId xmlns:p14="http://schemas.microsoft.com/office/powerpoint/2010/main" val="1277415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08B5E3-6340-6634-FF61-0FB53165E7E5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958D1B-48C6-3906-BD10-B0620ED9D610}"/>
              </a:ext>
            </a:extLst>
          </p:cNvPr>
          <p:cNvSpPr/>
          <p:nvPr/>
        </p:nvSpPr>
        <p:spPr>
          <a:xfrm>
            <a:off x="0" y="635000"/>
            <a:ext cx="9144000" cy="381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FD5291-52B0-3468-3C83-52126A229A6D}"/>
              </a:ext>
            </a:extLst>
          </p:cNvPr>
          <p:cNvSpPr txBox="1"/>
          <p:nvPr/>
        </p:nvSpPr>
        <p:spPr>
          <a:xfrm>
            <a:off x="431800" y="139700"/>
            <a:ext cx="736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A10 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答辩前 </a:t>
            </a:r>
            <a:r>
              <a:rPr lang="en-US" altLang="zh-CN" sz="1950" b="1">
                <a:solidFill>
                  <a:srgbClr val="FFFFFF"/>
                </a:solidFill>
                <a:latin typeface="微软雅黑" panose="020B0503020204020204" pitchFamily="34" charset="-122"/>
              </a:rPr>
              <a:t>30 </a:t>
            </a:r>
            <a:r>
              <a:rPr lang="zh-CN" altLang="en-US" sz="1950" b="1">
                <a:solidFill>
                  <a:srgbClr val="FFFFFF"/>
                </a:solidFill>
                <a:latin typeface="微软雅黑" panose="020B0503020204020204" pitchFamily="34" charset="-122"/>
              </a:rPr>
              <a:t>分钟自检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6D4079-8D60-BA3F-F932-835553E4298E}"/>
              </a:ext>
            </a:extLst>
          </p:cNvPr>
          <p:cNvSpPr txBox="1"/>
          <p:nvPr/>
        </p:nvSpPr>
        <p:spPr>
          <a:xfrm>
            <a:off x="8026400" y="190500"/>
            <a:ext cx="685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96A0B9"/>
                </a:solidFill>
                <a:latin typeface="微软雅黑" panose="020B0503020204020204" pitchFamily="34" charset="-122"/>
              </a:rPr>
              <a:t>22</a:t>
            </a:r>
            <a:endParaRPr lang="zh-CN" altLang="en-US" sz="1300">
              <a:solidFill>
                <a:srgbClr val="96A0B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DEED97-B2E5-E884-00E6-FFB2F6A7A78E}"/>
              </a:ext>
            </a:extLst>
          </p:cNvPr>
          <p:cNvSpPr txBox="1"/>
          <p:nvPr/>
        </p:nvSpPr>
        <p:spPr>
          <a:xfrm>
            <a:off x="431800" y="889000"/>
            <a:ext cx="8280400" cy="2251899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▪ 先跑不依赖密钥与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GPU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的三样：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crew_smoke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Mock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）、大屏整页、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Flink Web UI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检查点页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——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这三样现场必成</a:t>
            </a:r>
          </a:p>
          <a:p>
            <a:pPr>
              <a:spcAft>
                <a:spcPts val="700"/>
              </a:spcAft>
            </a:pP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▪ 再跑依赖外部条件的：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/predict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请求、车牌取证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curl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、五段集成链路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——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失败也要能展示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degraded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输出，那本身就是验收点</a:t>
            </a:r>
          </a:p>
          <a:p>
            <a:pPr>
              <a:spcAft>
                <a:spcPts val="700"/>
              </a:spcAft>
            </a:pP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▪ 兜底素材：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25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张运行截图、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data/crew/crew_mock_run_verbose.log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478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行）、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docs/acceptance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门禁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md + json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、实验报告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docx</a:t>
            </a:r>
          </a:p>
          <a:p>
            <a:pPr>
              <a:spcAft>
                <a:spcPts val="700"/>
              </a:spcAft>
            </a:pP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▪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不要临场做：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docker prune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与镜像重建（磁盘余量紧）、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migrate_existing_pipeline.sql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之外的库变更、把密钥值贴进终端历史</a:t>
            </a:r>
          </a:p>
          <a:p>
            <a:pPr>
              <a:spcAft>
                <a:spcPts val="700"/>
              </a:spcAft>
            </a:pP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▪ 本机现状提醒：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Docker Desktop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目前是停止的（上次为腾盘关掉），演示前先起它，否则第 </a:t>
            </a:r>
            <a:r>
              <a:rPr lang="en-US" altLang="zh-CN" sz="1300">
                <a:solidFill>
                  <a:srgbClr val="2D2D2D"/>
                </a:solidFill>
                <a:latin typeface="微软雅黑" panose="020B0503020204020204" pitchFamily="34" charset="-122"/>
              </a:rPr>
              <a:t>1 </a:t>
            </a:r>
            <a:r>
              <a:rPr lang="zh-CN" altLang="en-US" sz="1300">
                <a:solidFill>
                  <a:srgbClr val="2D2D2D"/>
                </a:solidFill>
                <a:latin typeface="微软雅黑" panose="020B0503020204020204" pitchFamily="34" charset="-122"/>
              </a:rPr>
              <a:t>步就卡住</a:t>
            </a:r>
          </a:p>
        </p:txBody>
      </p:sp>
    </p:spTree>
    <p:extLst>
      <p:ext uri="{BB962C8B-B14F-4D97-AF65-F5344CB8AC3E}">
        <p14:creationId xmlns:p14="http://schemas.microsoft.com/office/powerpoint/2010/main" val="2638996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7005</Words>
  <Application>Microsoft Office PowerPoint</Application>
  <PresentationFormat>自定义</PresentationFormat>
  <Paragraphs>323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等线</vt:lpstr>
      <vt:lpstr>等线 Light</vt:lpstr>
      <vt:lpstr>微软雅黑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俊磊 许</dc:creator>
  <cp:lastModifiedBy>俊磊 许</cp:lastModifiedBy>
  <cp:revision>1</cp:revision>
  <dcterms:created xsi:type="dcterms:W3CDTF">2026-09-22T11:39:33Z</dcterms:created>
  <dcterms:modified xsi:type="dcterms:W3CDTF">2026-09-22T11:39:33Z</dcterms:modified>
</cp:coreProperties>
</file>